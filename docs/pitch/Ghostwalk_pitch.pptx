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8ce50ca-e377-c4ca-80e5-c968bc1ffdea}">
          <p14:sldIdLst>
            <p14:sldId id="256"/>
            <p14:sldId id="257"/>
            <p14:sldId id="258"/>
          </p14:sldIdLst>
        </p14:section>
        <p14:section name="Solution" id="{4261cd3f-6168-bf42-c15d-de4bfa42e42b}">
          <p14:sldIdLst>
            <p14:sldId id="259"/>
            <p14:sldId id="260"/>
            <p14:sldId id="261"/>
            <p14:sldId id="262"/>
            <p14:sldId id="263"/>
          </p14:sldIdLst>
        </p14:section>
        <p14:section name="Evidence" id="{5ef473b3-8ae1-8aff-0861-78e3057efd81}">
          <p14:sldIdLst>
            <p14:sldId id="264"/>
            <p14:sldId id="265"/>
            <p14:sldId id="266"/>
          </p14:sldIdLst>
        </p14:section>
        <p14:section name="Close" id="{0f251a1d-5312-4585-610a-c5eda0fc1240}">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line: same orders, two layouts, and the ghost is our old warehouse. Ghostwalk is a browser 3D twin of a picking floor driven by real November 2011 orders from UCI Online Retail II. The rest of the deck backs up one claim: the walking we save is measured on orders the layout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PS 4.2 in one line: where each product sits decides how far pickers walk. The core challenge is in card 3. The twin must be driven by real order data, and the gain has to be measured by replaying exactly the same orders before and after. That sentence shaped every design decision we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UCI Online Retail II, a UK gift retailer, November 2011. We removed cancellations, returns and adjustments, and postage or fee codes, then kept the 100 most-picked products. That is what the problem statement asks for, and it is why the coverage figure is shown: we slot the top 100, not the whole catalogue. The split is chronological. The first half of November trains, the second half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leaves the warehouse to us, so we declare it. One file, sim/layout.ts, is the single source of truth: the simulator, this diagram and the README table all come from it. Pickers move only on the aisle graph. Both rack sides of a bay share one node, because the picker stands in the aisle and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exact routing matters: if routing is heuristic, a layout can look better just because the heuristic got lucky on it. With exact tours, the difference between two layouts is the layout. Held–Karp is exponential, so we cap it at 11 stops and are open about the rest. The Evidence panel shows how many orders and what share of the metres were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loop. Replay one invoice in 3D. Slot: press Baseline, then make your own swaps. Race your layout against the ghost of the one you started from. Anneal: watch the optimiser play. Evidence: the numbers behind it all. The three must-haves of PS 4.2 are on the bottom line. Heatmap and leaderboard are the stretch goals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opponent to beat after Baseline. Simulated annealing swaps two products, re-routes only the orders those products appear in, which is why it is fast, and sometimes accepts a worse layout early on to escape local optima. The budget is iterations, not seconds, so the result is reproducible. It never sees the held-out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simulator everywhere. The engine is plain TypeScript with no DOM. In the browser it runs in a Web Worker so the 3D stays at 60 fps. The scene only plays back paths the simulator produced. The same files run in Node for npm run eval, which writes the results this deck and the README quote, plus the shipped SA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headline as the held-out gain versus Baseline, the layout the problem statement told us to beat. Original and Random are there so nobody can say we picked a weak starting point. SA is reported over several seeds in eval/results.md, so the spread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questions we expect from judges, answered by design rather than by argument. The Q&amp;A cards in docs/pitch go deeper 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aloud in the demo. Stating limits plainly is part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links and hand over for questions. Both of us can explain every module; see docs/pitch/qa_cards.md.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TITLE">
    <p:bg>
      <p:bgPr>
        <a:solidFill>
          <a:srgbClr val="0B0F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85800"/>
            <a:ext cx="779526" cy="502920"/>
          </a:xfrm>
          <a:prstGeom prst="rect">
            <a:avLst/>
          </a:prstGeom>
        </p:spPr>
      </p:pic>
      <p:sp>
        <p:nvSpPr>
          <p:cNvPr id="3" name="Text 0"/>
          <p:cNvSpPr/>
          <p:nvPr>
            <p:ph idx="101" type="title" hasCustomPrompt="1"/>
          </p:nvPr>
        </p:nvSpPr>
        <p:spPr>
          <a:xfrm>
            <a:off x="548640" y="2148840"/>
            <a:ext cx="5120640" cy="1737360"/>
          </a:xfrm>
          <a:prstGeom prst="rect">
            <a:avLst/>
          </a:prstGeom>
          <a:noFill/>
          <a:ln/>
        </p:spPr>
        <p:txBody>
          <a:bodyPr wrap="square" rtlCol="0"/>
          <a:lstStyle>
            <a:lvl1pPr algn="l" indent="0" marL="0">
              <a:buNone/>
              <a:defRPr lang="en-US" sz="5000" b="1" dirty="0">
                <a:solidFill>
                  <a:schemeClr val="bg1"/>
                </a:solidFill>
                <a:latin typeface="Arial" pitchFamily="34" charset="0"/>
                <a:ea typeface="Arial" pitchFamily="34" charset="-122"/>
                <a:cs typeface="Arial" pitchFamily="34" charset="-120"/>
              </a:defRPr>
            </a:lvl1pPr>
          </a:lstStyle>
          <a:p>
            <a:pPr algn="l" indent="0" marL="0">
              <a:buNone/>
            </a:pP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0B0F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189513" y="603504"/>
            <a:ext cx="453542" cy="292608"/>
          </a:xfrm>
          <a:prstGeom prst="rect">
            <a:avLst/>
          </a:prstGeom>
        </p:spPr>
      </p:pic>
      <p:sp>
        <p:nvSpPr>
          <p:cNvPr id="3" name="Text 0"/>
          <p:cNvSpPr/>
          <p:nvPr>
            <p:ph idx="101" type="title" hasCustomPrompt="1"/>
          </p:nvPr>
        </p:nvSpPr>
        <p:spPr>
          <a:xfrm>
            <a:off x="548640" y="384048"/>
            <a:ext cx="10180015" cy="73152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spc="200" kern="0" dirty="0">
                <a:solidFill>
                  <a:schemeClr val="bg2"/>
                </a:solidFill>
              </a:rPr>
              <a:t>GHOSTWALK · NexAI Hack 2026 · PS 4.2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Anandb71/ghostwalk" TargetMode="External"/><Relationship Id="rId2"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5486400" cy="411480"/>
          </a:xfrm>
          <a:prstGeom prst="rect">
            <a:avLst/>
          </a:prstGeom>
          <a:noFill/>
          <a:ln/>
        </p:spPr>
        <p:txBody>
          <a:bodyPr wrap="square" lIns="0" tIns="0" rIns="0" bIns="0" rtlCol="0" anchor="t"/>
          <a:lstStyle/>
          <a:p>
            <a:pPr indent="0" marL="0">
              <a:buNone/>
            </a:pPr>
            <a:r>
              <a:rPr lang="en-US" sz="1600" b="1" spc="600" kern="0" dirty="0">
                <a:solidFill>
                  <a:schemeClr val="accent1"/>
                </a:solidFill>
                <a:latin typeface="Arial" pitchFamily="34" charset="0"/>
                <a:ea typeface="Arial" pitchFamily="34" charset="-122"/>
                <a:cs typeface="Arial" pitchFamily="34" charset="-120"/>
              </a:rPr>
              <a:t>GHOSTWALK</a:t>
            </a:r>
            <a:endParaRPr lang="en-US" sz="1600" dirty="0"/>
          </a:p>
        </p:txBody>
      </p:sp>
      <p:sp>
        <p:nvSpPr>
          <p:cNvPr id="3" name="Text 0"/>
          <p:cNvSpPr/>
          <p:nvPr>
            <p:ph idx="101" type="title" hasCustomPrompt="1"/>
          </p:nvPr>
        </p:nvSpPr>
        <p:spPr>
          <a:xfrm>
            <a:off x="548640" y="2148840"/>
            <a:ext cx="5120640" cy="1737360"/>
          </a:xfrm>
          <a:prstGeom prst="rect">
            <a:avLst/>
          </a:prstGeom>
          <a:noFill/>
          <a:ln/>
        </p:spPr>
        <p:txBody>
          <a:bodyPr wrap="square" lIns="0" tIns="0" rIns="0" bIns="0" rtlCol="0" anchor="t"/>
          <a:lstStyle/>
          <a:p>
            <a:pPr algn="l" indent="0" marL="0">
              <a:buNone/>
            </a:pPr>
            <a:r>
              <a:rPr lang="en-US" sz="5000" b="1" dirty="0">
                <a:solidFill>
                  <a:schemeClr val="bg1"/>
                </a:solidFill>
                <a:latin typeface="Arial" pitchFamily="34" charset="0"/>
                <a:ea typeface="Arial" pitchFamily="34" charset="-122"/>
                <a:cs typeface="Arial" pitchFamily="34" charset="-120"/>
              </a:rPr>
              <a:t>Race your old warehouse</a:t>
            </a:r>
            <a:endParaRPr lang="en-US" sz="5000" dirty="0"/>
          </a:p>
        </p:txBody>
      </p:sp>
      <p:sp>
        <p:nvSpPr>
          <p:cNvPr id="4" name="Text 2"/>
          <p:cNvSpPr txBox="1"/>
          <p:nvPr/>
        </p:nvSpPr>
        <p:spPr>
          <a:xfrm>
            <a:off x="548640" y="3977640"/>
            <a:ext cx="5120640" cy="1280160"/>
          </a:xfrm>
          <a:prstGeom prst="rect">
            <a:avLst/>
          </a:prstGeom>
          <a:noFill/>
          <a:ln/>
        </p:spPr>
        <p:txBody>
          <a:bodyPr wrap="square" lIns="0" tIns="0" rIns="0" bIns="0" rtlCol="0" anchor="t"/>
          <a:lstStyle/>
          <a:p>
            <a:pPr indent="0" marL="0">
              <a:buNone/>
            </a:pPr>
            <a:r>
              <a:rPr lang="en-US" sz="1800" dirty="0">
                <a:solidFill>
                  <a:schemeClr val="bg2"/>
                </a:solidFill>
                <a:latin typeface="Calibri" pitchFamily="34" charset="0"/>
                <a:ea typeface="Calibri" pitchFamily="34" charset="-122"/>
                <a:cs typeface="Calibri" pitchFamily="34" charset="-120"/>
              </a:rPr>
              <a:t>A 3D digital twin of a picking floor, driven by one real month of orders. Re-slot the cartons, race the ghost of your old layout, and beat the optimiser, with every gain measured on held-out orders.</a:t>
            </a:r>
            <a:endParaRPr lang="en-US" sz="1800" dirty="0"/>
          </a:p>
        </p:txBody>
      </p:sp>
      <p:sp>
        <p:nvSpPr>
          <p:cNvPr id="5" name="Text 3"/>
          <p:cNvSpPr txBox="1"/>
          <p:nvPr/>
        </p:nvSpPr>
        <p:spPr>
          <a:xfrm>
            <a:off x="548640" y="5440680"/>
            <a:ext cx="5120640" cy="320040"/>
          </a:xfrm>
          <a:prstGeom prst="rect">
            <a:avLst/>
          </a:prstGeom>
          <a:noFill/>
          <a:ln/>
        </p:spPr>
        <p:txBody>
          <a:bodyPr wrap="square" lIns="0" tIns="0" rIns="0" bIns="0" rtlCol="0" anchor="t"/>
          <a:lstStyle/>
          <a:p>
            <a:pPr indent="0" marL="0">
              <a:buNone/>
            </a:pPr>
            <a:r>
              <a:rPr lang="en-US" sz="1400" b="1" dirty="0">
                <a:solidFill>
                  <a:schemeClr val="bg1"/>
                </a:solidFill>
                <a:latin typeface="Calibri" pitchFamily="34" charset="0"/>
                <a:ea typeface="Calibri" pitchFamily="34" charset="-122"/>
                <a:cs typeface="Calibri" pitchFamily="34" charset="-120"/>
              </a:rPr>
              <a:t>NexAI Hack 2026 · Problem 4.2 · Warehouse Digital Twin</a:t>
            </a:r>
            <a:endParaRPr lang="en-US" sz="1400" dirty="0"/>
          </a:p>
        </p:txBody>
      </p:sp>
      <p:sp>
        <p:nvSpPr>
          <p:cNvPr id="6" name="Text 4"/>
          <p:cNvSpPr txBox="1"/>
          <p:nvPr/>
        </p:nvSpPr>
        <p:spPr>
          <a:xfrm>
            <a:off x="548640" y="5806440"/>
            <a:ext cx="512064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Anand B (@Anandb71) · Junaid Ahamed (@JunaidAhamed-7777)</a:t>
            </a:r>
            <a:endParaRPr lang="en-US" sz="1400" dirty="0"/>
          </a:p>
        </p:txBody>
      </p:sp>
      <p:pic>
        <p:nvPicPr>
          <p:cNvPr id="7" name="floorplan" descr="Floor plan of the declared warehouse: 5 aisles, 100 slots, dock at the front-left">    </p:cNvPr>
          <p:cNvPicPr>
            <a:picLocks noChangeAspect="1"/>
          </p:cNvPicPr>
          <p:nvPr/>
        </p:nvPicPr>
        <p:blipFill>
          <a:blip r:embed="rId1"/>
          <a:stretch>
            <a:fillRect/>
          </a:stretch>
        </p:blipFill>
        <p:spPr>
          <a:xfrm>
            <a:off x="6207455" y="1234440"/>
            <a:ext cx="5435600" cy="4389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Slotting decides how far pickers walk</a:t>
            </a:r>
            <a:endParaRPr lang="en-US" sz="3200" dirty="0"/>
          </a:p>
        </p:txBody>
      </p:sp>
      <p:sp>
        <p:nvSpPr>
          <p:cNvPr id="3" name="card-The cost"/>
          <p:cNvSpPr/>
          <p:nvPr/>
        </p:nvSpPr>
        <p:spPr>
          <a:xfrm>
            <a:off x="548640" y="1600200"/>
            <a:ext cx="3454298" cy="2834640"/>
          </a:xfrm>
          <a:prstGeom prst="roundRect">
            <a:avLst>
              <a:gd name="adj" fmla="val 3871"/>
            </a:avLst>
          </a:prstGeom>
          <a:solidFill>
            <a:schemeClr val="tx2"/>
          </a:solidFill>
          <a:ln w="9525">
            <a:solidFill>
              <a:schemeClr val="accent6"/>
            </a:solidFill>
            <a:prstDash val="solid"/>
          </a:ln>
        </p:spPr>
      </p:sp>
      <p:sp>
        <p:nvSpPr>
          <p:cNvPr id="4" name="Shape 2"/>
          <p:cNvSpPr/>
          <p:nvPr/>
        </p:nvSpPr>
        <p:spPr>
          <a:xfrm>
            <a:off x="822960" y="187452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22960"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cost</a:t>
            </a:r>
            <a:endParaRPr lang="en-US" sz="1900" dirty="0"/>
          </a:p>
        </p:txBody>
      </p:sp>
      <p:sp>
        <p:nvSpPr>
          <p:cNvPr id="7" name="Text 5"/>
          <p:cNvSpPr txBox="1"/>
          <p:nvPr/>
        </p:nvSpPr>
        <p:spPr>
          <a:xfrm>
            <a:off x="822960"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Every order is a walk from the dock to each product's slot and back. Put the fast movers far away and every single order pays for it.</a:t>
            </a:r>
            <a:endParaRPr lang="en-US" sz="1700" dirty="0"/>
          </a:p>
        </p:txBody>
      </p:sp>
      <p:sp>
        <p:nvSpPr>
          <p:cNvPr id="8" name="card-The ask"/>
          <p:cNvSpPr/>
          <p:nvPr/>
        </p:nvSpPr>
        <p:spPr>
          <a:xfrm>
            <a:off x="4368698" y="1600200"/>
            <a:ext cx="3454298" cy="2834640"/>
          </a:xfrm>
          <a:prstGeom prst="roundRect">
            <a:avLst>
              <a:gd name="adj" fmla="val 3871"/>
            </a:avLst>
          </a:prstGeom>
          <a:solidFill>
            <a:schemeClr val="tx2"/>
          </a:solidFill>
          <a:ln w="9525">
            <a:solidFill>
              <a:schemeClr val="accent6"/>
            </a:solidFill>
            <a:prstDash val="solid"/>
          </a:ln>
        </p:spPr>
      </p:sp>
      <p:sp>
        <p:nvSpPr>
          <p:cNvPr id="9" name="Shape 7"/>
          <p:cNvSpPr/>
          <p:nvPr/>
        </p:nvSpPr>
        <p:spPr>
          <a:xfrm>
            <a:off x="4643018" y="1874520"/>
            <a:ext cx="384048" cy="384048"/>
          </a:xfrm>
          <a:prstGeom prst="ellipse">
            <a:avLst/>
          </a:prstGeom>
          <a:solidFill>
            <a:schemeClr val="accent2"/>
          </a:solidFill>
          <a:ln w="12700">
            <a:solidFill>
              <a:schemeClr val="accent2"/>
            </a:solidFill>
            <a:prstDash val="solid"/>
          </a:ln>
        </p:spPr>
      </p:sp>
      <p:sp>
        <p:nvSpPr>
          <p:cNvPr id="10" name="Text 8"/>
          <p:cNvSpPr txBox="1"/>
          <p:nvPr/>
        </p:nvSpPr>
        <p:spPr>
          <a:xfrm>
            <a:off x="4643018"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5145938"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ask</a:t>
            </a:r>
            <a:endParaRPr lang="en-US" sz="1900" dirty="0"/>
          </a:p>
        </p:txBody>
      </p:sp>
      <p:sp>
        <p:nvSpPr>
          <p:cNvPr id="12" name="Text 10"/>
          <p:cNvSpPr txBox="1"/>
          <p:nvPr/>
        </p:nvSpPr>
        <p:spPr>
          <a:xfrm>
            <a:off x="4643018"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A browser 3D twin of a picking floor, driven by real orders, where the player re-slots products and the twin shows the walking saved.</a:t>
            </a:r>
            <a:endParaRPr lang="en-US" sz="1700" dirty="0"/>
          </a:p>
        </p:txBody>
      </p:sp>
      <p:sp>
        <p:nvSpPr>
          <p:cNvPr id="13" name="card-The catch"/>
          <p:cNvSpPr/>
          <p:nvPr/>
        </p:nvSpPr>
        <p:spPr>
          <a:xfrm>
            <a:off x="8188757" y="1600200"/>
            <a:ext cx="3454298" cy="2834640"/>
          </a:xfrm>
          <a:prstGeom prst="roundRect">
            <a:avLst>
              <a:gd name="adj" fmla="val 3871"/>
            </a:avLst>
          </a:prstGeom>
          <a:solidFill>
            <a:schemeClr val="tx2"/>
          </a:solidFill>
          <a:ln w="9525">
            <a:solidFill>
              <a:schemeClr val="accent6"/>
            </a:solidFill>
            <a:prstDash val="solid"/>
          </a:ln>
        </p:spPr>
      </p:sp>
      <p:sp>
        <p:nvSpPr>
          <p:cNvPr id="14" name="Shape 12"/>
          <p:cNvSpPr/>
          <p:nvPr/>
        </p:nvSpPr>
        <p:spPr>
          <a:xfrm>
            <a:off x="8463077" y="187452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8463077"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965997"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catch</a:t>
            </a:r>
            <a:endParaRPr lang="en-US" sz="1900" dirty="0"/>
          </a:p>
        </p:txBody>
      </p:sp>
      <p:sp>
        <p:nvSpPr>
          <p:cNvPr id="17" name="Text 15"/>
          <p:cNvSpPr txBox="1"/>
          <p:nvPr/>
        </p:nvSpPr>
        <p:spPr>
          <a:xfrm>
            <a:off x="8463077"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The improvement has to be measured by replaying the same orders before and after, not claimed. Walking must follow aisles, never cut through racks.</a:t>
            </a:r>
            <a:endParaRPr lang="en-US" sz="1700" dirty="0"/>
          </a:p>
        </p:txBody>
      </p:sp>
      <p:sp>
        <p:nvSpPr>
          <p:cNvPr id="18" name="answer"/>
          <p:cNvSpPr/>
          <p:nvPr/>
        </p:nvSpPr>
        <p:spPr>
          <a:xfrm>
            <a:off x="548640" y="4846320"/>
            <a:ext cx="11094415" cy="960120"/>
          </a:xfrm>
          <a:prstGeom prst="roundRect">
            <a:avLst>
              <a:gd name="adj" fmla="val 11429"/>
            </a:avLst>
          </a:prstGeom>
          <a:solidFill>
            <a:schemeClr val="accent5"/>
          </a:solidFill>
          <a:ln w="9525">
            <a:solidFill>
              <a:schemeClr val="accent6"/>
            </a:solidFill>
            <a:prstDash val="solid"/>
          </a:ln>
        </p:spPr>
      </p:sp>
      <p:sp>
        <p:nvSpPr>
          <p:cNvPr id="19" name="Text 17"/>
          <p:cNvSpPr txBox="1"/>
          <p:nvPr/>
        </p:nvSpPr>
        <p:spPr>
          <a:xfrm>
            <a:off x="868680" y="4846320"/>
            <a:ext cx="10454335" cy="96012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Our answer  </a:t>
            </a:r>
            <a:pPr indent="0" marL="0">
              <a:buNone/>
            </a:pPr>
            <a:r>
              <a:rPr lang="en-US" sz="1800" dirty="0">
                <a:solidFill>
                  <a:schemeClr val="bg1"/>
                </a:solidFill>
                <a:latin typeface="Calibri" pitchFamily="34" charset="0"/>
                <a:ea typeface="Calibri" pitchFamily="34" charset="-122"/>
                <a:cs typeface="Calibri" pitchFamily="34" charset="-120"/>
              </a:rPr>
              <a:t>replay real invoices on an exact aisle graph, and score every layout on orders it has never seen.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One real month of orders, cleaned and split</a:t>
            </a:r>
            <a:endParaRPr lang="en-US" sz="3200" dirty="0"/>
          </a:p>
        </p:txBody>
      </p:sp>
      <p:sp>
        <p:nvSpPr>
          <p:cNvPr id="3" name="stat-real invoices replayed"/>
          <p:cNvSpPr/>
          <p:nvPr/>
        </p:nvSpPr>
        <p:spPr>
          <a:xfrm>
            <a:off x="548640" y="1463040"/>
            <a:ext cx="2606040" cy="1783080"/>
          </a:xfrm>
          <a:prstGeom prst="roundRect">
            <a:avLst>
              <a:gd name="adj" fmla="val 6154"/>
            </a:avLst>
          </a:prstGeom>
          <a:solidFill>
            <a:schemeClr val="tx2"/>
          </a:solidFill>
          <a:ln w="9525">
            <a:solidFill>
              <a:schemeClr val="accent6"/>
            </a:solidFill>
            <a:prstDash val="solid"/>
          </a:ln>
        </p:spPr>
      </p:sp>
      <p:sp>
        <p:nvSpPr>
          <p:cNvPr id="4" name="Text 2"/>
          <p:cNvSpPr txBox="1"/>
          <p:nvPr/>
        </p:nvSpPr>
        <p:spPr>
          <a:xfrm>
            <a:off x="777240" y="1691640"/>
            <a:ext cx="2194560" cy="77724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2,362</a:t>
            </a:r>
            <a:endParaRPr lang="en-US" sz="4000" dirty="0"/>
          </a:p>
        </p:txBody>
      </p:sp>
      <p:sp>
        <p:nvSpPr>
          <p:cNvPr id="5" name="Text 3"/>
          <p:cNvSpPr txBox="1"/>
          <p:nvPr/>
        </p:nvSpPr>
        <p:spPr>
          <a:xfrm>
            <a:off x="777240" y="251460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real invoices replayed</a:t>
            </a:r>
            <a:endParaRPr lang="en-US" sz="1400" dirty="0"/>
          </a:p>
        </p:txBody>
      </p:sp>
      <p:sp>
        <p:nvSpPr>
          <p:cNvPr id="6" name="stat-order lines"/>
          <p:cNvSpPr/>
          <p:nvPr/>
        </p:nvSpPr>
        <p:spPr>
          <a:xfrm>
            <a:off x="3383280" y="1463040"/>
            <a:ext cx="2606040" cy="1783080"/>
          </a:xfrm>
          <a:prstGeom prst="roundRect">
            <a:avLst>
              <a:gd name="adj" fmla="val 6154"/>
            </a:avLst>
          </a:prstGeom>
          <a:solidFill>
            <a:schemeClr val="tx2"/>
          </a:solidFill>
          <a:ln w="9525">
            <a:solidFill>
              <a:schemeClr val="accent6"/>
            </a:solidFill>
            <a:prstDash val="solid"/>
          </a:ln>
        </p:spPr>
      </p:sp>
      <p:sp>
        <p:nvSpPr>
          <p:cNvPr id="7" name="Text 5"/>
          <p:cNvSpPr txBox="1"/>
          <p:nvPr/>
        </p:nvSpPr>
        <p:spPr>
          <a:xfrm>
            <a:off x="3611880" y="1691640"/>
            <a:ext cx="2194560" cy="77724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17,056</a:t>
            </a:r>
            <a:endParaRPr lang="en-US" sz="4000" dirty="0"/>
          </a:p>
        </p:txBody>
      </p:sp>
      <p:sp>
        <p:nvSpPr>
          <p:cNvPr id="8" name="Text 6"/>
          <p:cNvSpPr txBox="1"/>
          <p:nvPr/>
        </p:nvSpPr>
        <p:spPr>
          <a:xfrm>
            <a:off x="3611880" y="251460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order lines</a:t>
            </a:r>
            <a:endParaRPr lang="en-US" sz="1400" dirty="0"/>
          </a:p>
        </p:txBody>
      </p:sp>
      <p:sp>
        <p:nvSpPr>
          <p:cNvPr id="9" name="stat-SKUs slotted (top by order lines)"/>
          <p:cNvSpPr/>
          <p:nvPr/>
        </p:nvSpPr>
        <p:spPr>
          <a:xfrm>
            <a:off x="548640" y="3474720"/>
            <a:ext cx="2606040" cy="1783080"/>
          </a:xfrm>
          <a:prstGeom prst="roundRect">
            <a:avLst>
              <a:gd name="adj" fmla="val 6154"/>
            </a:avLst>
          </a:prstGeom>
          <a:solidFill>
            <a:schemeClr val="tx2"/>
          </a:solidFill>
          <a:ln w="9525">
            <a:solidFill>
              <a:schemeClr val="accent6"/>
            </a:solidFill>
            <a:prstDash val="solid"/>
          </a:ln>
        </p:spPr>
      </p:sp>
      <p:sp>
        <p:nvSpPr>
          <p:cNvPr id="10" name="Text 8"/>
          <p:cNvSpPr txBox="1"/>
          <p:nvPr/>
        </p:nvSpPr>
        <p:spPr>
          <a:xfrm>
            <a:off x="777240" y="370332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100</a:t>
            </a:r>
            <a:endParaRPr lang="en-US" sz="4000" dirty="0"/>
          </a:p>
        </p:txBody>
      </p:sp>
      <p:sp>
        <p:nvSpPr>
          <p:cNvPr id="11" name="Text 9"/>
          <p:cNvSpPr txBox="1"/>
          <p:nvPr/>
        </p:nvSpPr>
        <p:spPr>
          <a:xfrm>
            <a:off x="777240" y="452628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SKUs slotted (top by order lines)</a:t>
            </a:r>
            <a:endParaRPr lang="en-US" sz="1400" dirty="0"/>
          </a:p>
        </p:txBody>
      </p:sp>
      <p:sp>
        <p:nvSpPr>
          <p:cNvPr id="12" name="stat-of the month's lines they cover"/>
          <p:cNvSpPr/>
          <p:nvPr/>
        </p:nvSpPr>
        <p:spPr>
          <a:xfrm>
            <a:off x="3383280" y="3474720"/>
            <a:ext cx="2606040" cy="1783080"/>
          </a:xfrm>
          <a:prstGeom prst="roundRect">
            <a:avLst>
              <a:gd name="adj" fmla="val 6154"/>
            </a:avLst>
          </a:prstGeom>
          <a:solidFill>
            <a:schemeClr val="tx2"/>
          </a:solidFill>
          <a:ln w="9525">
            <a:solidFill>
              <a:schemeClr val="accent6"/>
            </a:solidFill>
            <a:prstDash val="solid"/>
          </a:ln>
        </p:spPr>
      </p:sp>
      <p:sp>
        <p:nvSpPr>
          <p:cNvPr id="13" name="Text 11"/>
          <p:cNvSpPr txBox="1"/>
          <p:nvPr/>
        </p:nvSpPr>
        <p:spPr>
          <a:xfrm>
            <a:off x="3611880" y="370332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21.2 %</a:t>
            </a:r>
            <a:endParaRPr lang="en-US" sz="4000" dirty="0"/>
          </a:p>
        </p:txBody>
      </p:sp>
      <p:sp>
        <p:nvSpPr>
          <p:cNvPr id="14" name="Text 12"/>
          <p:cNvSpPr txBox="1"/>
          <p:nvPr/>
        </p:nvSpPr>
        <p:spPr>
          <a:xfrm>
            <a:off x="3611880" y="452628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of the month's lines they cover</a:t>
            </a:r>
            <a:endParaRPr lang="en-US" sz="1400" dirty="0"/>
          </a:p>
        </p:txBody>
      </p:sp>
      <p:sp>
        <p:nvSpPr>
          <p:cNvPr id="15" name="Text 13"/>
          <p:cNvSpPr txBox="1"/>
          <p:nvPr/>
        </p:nvSpPr>
        <p:spPr>
          <a:xfrm>
            <a:off x="6583680" y="1463040"/>
            <a:ext cx="5059375"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Cleaning (whole sheet, Dec 2010 – Dec 2011)</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0" y="1920240"/>
          <a:ext cx="5059375" cy="914400"/>
        </p:xfrm>
        <a:graphic>
          <a:graphicData uri="http://schemas.openxmlformats.org/drawingml/2006/table">
            <a:tbl>
              <a:tblPr/>
              <a:tblGrid>
                <a:gridCol w="3596335"/>
                <a:gridCol w="1463040"/>
              </a:tblGrid>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raw rows</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541,910</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cancelled invoices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9,288</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quantity ≤ 0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1,336</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price ≤ 0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1,181</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non-product codes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2,380</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bl>
          </a:graphicData>
        </a:graphic>
      </p:graphicFrame>
      <p:sp>
        <p:nvSpPr>
          <p:cNvPr id="17" name="Text 14"/>
          <p:cNvSpPr txBox="1"/>
          <p:nvPr/>
        </p:nvSpPr>
        <p:spPr>
          <a:xfrm>
            <a:off x="6583680" y="3794760"/>
            <a:ext cx="5059375"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Chronological split of 2011-11</a:t>
            </a:r>
            <a:endParaRPr lang="en-US" sz="1600" dirty="0"/>
          </a:p>
        </p:txBody>
      </p:sp>
      <p:sp>
        <p:nvSpPr>
          <p:cNvPr id="18" name="split-train"/>
          <p:cNvSpPr/>
          <p:nvPr/>
        </p:nvSpPr>
        <p:spPr>
          <a:xfrm>
            <a:off x="6583680" y="4297680"/>
            <a:ext cx="2420446" cy="566928"/>
          </a:xfrm>
          <a:prstGeom prst="rect">
            <a:avLst/>
          </a:prstGeom>
          <a:solidFill>
            <a:schemeClr val="accent2"/>
          </a:solidFill>
          <a:ln w="12700">
            <a:solidFill>
              <a:schemeClr val="accent2"/>
            </a:solidFill>
            <a:prstDash val="solid"/>
          </a:ln>
        </p:spPr>
      </p:sp>
      <p:sp>
        <p:nvSpPr>
          <p:cNvPr id="19" name="split-holdout"/>
          <p:cNvSpPr/>
          <p:nvPr/>
        </p:nvSpPr>
        <p:spPr>
          <a:xfrm>
            <a:off x="9004126" y="4297680"/>
            <a:ext cx="2638929" cy="566928"/>
          </a:xfrm>
          <a:prstGeom prst="rect">
            <a:avLst/>
          </a:prstGeom>
          <a:solidFill>
            <a:schemeClr val="accent1"/>
          </a:solidFill>
          <a:ln w="12700">
            <a:solidFill>
              <a:schemeClr val="accent1"/>
            </a:solidFill>
            <a:prstDash val="solid"/>
          </a:ln>
        </p:spPr>
      </p:sp>
      <p:sp>
        <p:nvSpPr>
          <p:cNvPr id="20" name="Text 17"/>
          <p:cNvSpPr txBox="1"/>
          <p:nvPr/>
        </p:nvSpPr>
        <p:spPr>
          <a:xfrm>
            <a:off x="6720840" y="4297680"/>
            <a:ext cx="2146126" cy="566928"/>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train · 1,130</a:t>
            </a:r>
            <a:endParaRPr lang="en-US" sz="1500" dirty="0"/>
          </a:p>
        </p:txBody>
      </p:sp>
      <p:sp>
        <p:nvSpPr>
          <p:cNvPr id="21" name="Text 18"/>
          <p:cNvSpPr txBox="1"/>
          <p:nvPr/>
        </p:nvSpPr>
        <p:spPr>
          <a:xfrm>
            <a:off x="9141286" y="4297680"/>
            <a:ext cx="2364609" cy="566928"/>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held-out · 1,232</a:t>
            </a:r>
            <a:endParaRPr lang="en-US" sz="1500" dirty="0"/>
          </a:p>
        </p:txBody>
      </p:sp>
      <p:sp>
        <p:nvSpPr>
          <p:cNvPr id="22" name="Text 19"/>
          <p:cNvSpPr txBox="1"/>
          <p:nvPr/>
        </p:nvSpPr>
        <p:spPr>
          <a:xfrm>
            <a:off x="6583680" y="4983480"/>
            <a:ext cx="2420446"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1–15 Nov: the player, heatmap and optimiser see these</a:t>
            </a:r>
            <a:endParaRPr lang="en-US" sz="1200" dirty="0"/>
          </a:p>
        </p:txBody>
      </p:sp>
      <p:sp>
        <p:nvSpPr>
          <p:cNvPr id="23" name="Text 20"/>
          <p:cNvSpPr txBox="1"/>
          <p:nvPr/>
        </p:nvSpPr>
        <p:spPr>
          <a:xfrm>
            <a:off x="9095566" y="4983480"/>
            <a:ext cx="2547489"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16–30 Nov: used only for scoring</a:t>
            </a:r>
            <a:endParaRPr lang="en-US" sz="1200" dirty="0"/>
          </a:p>
        </p:txBody>
      </p:sp>
      <p:sp>
        <p:nvSpPr>
          <p:cNvPr id="24" name="Text 21"/>
          <p:cNvSpPr txBox="1"/>
          <p:nvPr/>
        </p:nvSpPr>
        <p:spPr>
          <a:xfrm>
            <a:off x="548640" y="5760720"/>
            <a:ext cx="11094415"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Chen, D. (2019). Online Retail II. UCI Machine Learning Repository. https://doi.org/10.24432/C5CG6D. CC BY 4.0.</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A declared floor, walked only along aisles</a:t>
            </a:r>
            <a:endParaRPr lang="en-US" sz="3200" dirty="0"/>
          </a:p>
        </p:txBody>
      </p:sp>
      <p:pic>
        <p:nvPicPr>
          <p:cNvPr id="3" name="floorplan" descr="Floor plan generated from web/src/sim/layout.ts">    </p:cNvPr>
          <p:cNvPicPr>
            <a:picLocks noChangeAspect="1"/>
          </p:cNvPicPr>
          <p:nvPr/>
        </p:nvPicPr>
        <p:blipFill>
          <a:blip r:embed="rId1"/>
          <a:stretch>
            <a:fillRect/>
          </a:stretch>
        </p:blipFill>
        <p:spPr>
          <a:xfrm>
            <a:off x="548640" y="1280160"/>
            <a:ext cx="6171671" cy="4983480"/>
          </a:xfrm>
          <a:prstGeom prst="rect">
            <a:avLst/>
          </a:prstGeom>
        </p:spPr>
      </p:pic>
      <p:sp>
        <p:nvSpPr>
          <p:cNvPr id="4" name="Text 1"/>
          <p:cNvSpPr txBox="1"/>
          <p:nvPr/>
        </p:nvSpPr>
        <p:spPr>
          <a:xfrm>
            <a:off x="7131791" y="132588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100 slots</a:t>
            </a:r>
            <a:endParaRPr lang="en-US" sz="2600" dirty="0"/>
          </a:p>
        </p:txBody>
      </p:sp>
      <p:sp>
        <p:nvSpPr>
          <p:cNvPr id="5" name="Text 2"/>
          <p:cNvSpPr txBox="1"/>
          <p:nvPr/>
        </p:nvSpPr>
        <p:spPr>
          <a:xfrm>
            <a:off x="7131791" y="182880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5 aisles × 2 rack sides × 10 bays, one SKU per slot</a:t>
            </a:r>
            <a:endParaRPr lang="en-US" sz="1400" dirty="0"/>
          </a:p>
        </p:txBody>
      </p:sp>
      <p:sp>
        <p:nvSpPr>
          <p:cNvPr id="6" name="Text 3"/>
          <p:cNvSpPr txBox="1"/>
          <p:nvPr/>
        </p:nvSpPr>
        <p:spPr>
          <a:xfrm>
            <a:off x="7131791" y="251460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66 nodes · 73 edges</a:t>
            </a:r>
            <a:endParaRPr lang="en-US" sz="2600" dirty="0"/>
          </a:p>
        </p:txBody>
      </p:sp>
      <p:sp>
        <p:nvSpPr>
          <p:cNvPr id="7" name="Text 4"/>
          <p:cNvSpPr txBox="1"/>
          <p:nvPr/>
        </p:nvSpPr>
        <p:spPr>
          <a:xfrm>
            <a:off x="7131791" y="301752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the only places a picker can walk: no shortcuts through racks</a:t>
            </a:r>
            <a:endParaRPr lang="en-US" sz="1400" dirty="0"/>
          </a:p>
        </p:txBody>
      </p:sp>
      <p:sp>
        <p:nvSpPr>
          <p:cNvPr id="8" name="Text 5"/>
          <p:cNvSpPr txBox="1"/>
          <p:nvPr/>
        </p:nvSpPr>
        <p:spPr>
          <a:xfrm>
            <a:off x="7131791" y="370332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3 cross-aisles</a:t>
            </a:r>
            <a:endParaRPr lang="en-US" sz="2600" dirty="0"/>
          </a:p>
        </p:txBody>
      </p:sp>
      <p:sp>
        <p:nvSpPr>
          <p:cNvPr id="9" name="Text 6"/>
          <p:cNvSpPr txBox="1"/>
          <p:nvPr/>
        </p:nvSpPr>
        <p:spPr>
          <a:xfrm>
            <a:off x="7131791" y="420624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front, middle and back, 4.0 m wide; the dock sits on the front one</a:t>
            </a:r>
            <a:endParaRPr lang="en-US" sz="1400" dirty="0"/>
          </a:p>
        </p:txBody>
      </p:sp>
      <p:sp>
        <p:nvSpPr>
          <p:cNvPr id="10" name="Text 7"/>
          <p:cNvSpPr txBox="1"/>
          <p:nvPr/>
        </p:nvSpPr>
        <p:spPr>
          <a:xfrm>
            <a:off x="7131791" y="489204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1.2 m/s · 8 s/line</a:t>
            </a:r>
            <a:endParaRPr lang="en-US" sz="2600" dirty="0"/>
          </a:p>
        </p:txBody>
      </p:sp>
      <p:sp>
        <p:nvSpPr>
          <p:cNvPr id="11" name="Text 8"/>
          <p:cNvSpPr txBox="1"/>
          <p:nvPr/>
        </p:nvSpPr>
        <p:spPr>
          <a:xfrm>
            <a:off x="7131791" y="539496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declared walking speed and pick time</a:t>
            </a:r>
            <a:endParaRPr lang="en-US" sz="1400" dirty="0"/>
          </a:p>
        </p:txBody>
      </p:sp>
      <p:sp>
        <p:nvSpPr>
          <p:cNvPr id="12" name="Text 9"/>
          <p:cNvSpPr txBox="1"/>
          <p:nvPr/>
        </p:nvSpPr>
        <p:spPr>
          <a:xfrm>
            <a:off x="7131791" y="5989320"/>
            <a:ext cx="4511264" cy="274320"/>
          </a:xfrm>
          <a:prstGeom prst="rect">
            <a:avLst/>
          </a:prstGeom>
          <a:noFill/>
          <a:ln/>
        </p:spPr>
        <p:txBody>
          <a:bodyPr wrap="square" lIns="0" tIns="0" rIns="0" bIns="0" rtlCol="0" anchor="t"/>
          <a:lstStyle/>
          <a:p>
            <a:pPr indent="0" marL="0">
              <a:buNone/>
            </a:pPr>
            <a:r>
              <a:rPr lang="en-US" sz="1000" i="1" dirty="0">
                <a:solidFill>
                  <a:schemeClr val="bg2"/>
                </a:solidFill>
                <a:latin typeface="Calibri" pitchFamily="34" charset="0"/>
                <a:ea typeface="Calibri" pitchFamily="34" charset="-122"/>
                <a:cs typeface="Calibri" pitchFamily="34" charset="-120"/>
              </a:rPr>
              <a:t>Diagram and numbers generated from web/src/sim/layout.ts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Every order is an exact tour on the aisle graph</a:t>
            </a:r>
            <a:endParaRPr lang="en-US" sz="3200" dirty="0"/>
          </a:p>
        </p:txBody>
      </p:sp>
      <p:sp>
        <p:nvSpPr>
          <p:cNvPr id="3" name="step-Order"/>
          <p:cNvSpPr/>
          <p:nvPr/>
        </p:nvSpPr>
        <p:spPr>
          <a:xfrm>
            <a:off x="548640" y="1508760"/>
            <a:ext cx="2377440" cy="1828800"/>
          </a:xfrm>
          <a:prstGeom prst="roundRect">
            <a:avLst>
              <a:gd name="adj" fmla="val 6000"/>
            </a:avLst>
          </a:prstGeom>
          <a:solidFill>
            <a:schemeClr val="accent5"/>
          </a:solidFill>
          <a:ln w="9525">
            <a:solidFill>
              <a:schemeClr val="accent6"/>
            </a:solidFill>
            <a:prstDash val="solid"/>
          </a:ln>
        </p:spPr>
      </p:sp>
      <p:sp>
        <p:nvSpPr>
          <p:cNvPr id="4" name="Shape 2"/>
          <p:cNvSpPr/>
          <p:nvPr/>
        </p:nvSpPr>
        <p:spPr>
          <a:xfrm>
            <a:off x="777240" y="169164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80160"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Order</a:t>
            </a:r>
            <a:endParaRPr lang="en-US" sz="2000" dirty="0"/>
          </a:p>
        </p:txBody>
      </p:sp>
      <p:sp>
        <p:nvSpPr>
          <p:cNvPr id="7" name="Text 5"/>
          <p:cNvSpPr txBox="1"/>
          <p:nvPr/>
        </p:nvSpPr>
        <p:spPr>
          <a:xfrm>
            <a:off x="777240"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 real invoice and its lines</a:t>
            </a:r>
            <a:endParaRPr lang="en-US" sz="1400" dirty="0"/>
          </a:p>
        </p:txBody>
      </p:sp>
      <p:sp>
        <p:nvSpPr>
          <p:cNvPr id="8" name="Shape 6"/>
          <p:cNvSpPr/>
          <p:nvPr/>
        </p:nvSpPr>
        <p:spPr>
          <a:xfrm>
            <a:off x="2999232" y="2423160"/>
            <a:ext cx="381914" cy="914"/>
          </a:xfrm>
          <a:prstGeom prst="line">
            <a:avLst/>
          </a:prstGeom>
          <a:noFill/>
          <a:ln w="19050">
            <a:solidFill>
              <a:schemeClr val="bg2"/>
            </a:solidFill>
            <a:prstDash val="solid"/>
            <a:tailEnd type="triangle"/>
          </a:ln>
        </p:spPr>
      </p:sp>
      <p:sp>
        <p:nvSpPr>
          <p:cNvPr id="9" name="step-Stops"/>
          <p:cNvSpPr/>
          <p:nvPr/>
        </p:nvSpPr>
        <p:spPr>
          <a:xfrm>
            <a:off x="3454298" y="1508760"/>
            <a:ext cx="2377440" cy="1828800"/>
          </a:xfrm>
          <a:prstGeom prst="roundRect">
            <a:avLst>
              <a:gd name="adj" fmla="val 6000"/>
            </a:avLst>
          </a:prstGeom>
          <a:solidFill>
            <a:schemeClr val="accent5"/>
          </a:solidFill>
          <a:ln w="9525">
            <a:solidFill>
              <a:schemeClr val="accent6"/>
            </a:solidFill>
            <a:prstDash val="solid"/>
          </a:ln>
        </p:spPr>
      </p:sp>
      <p:sp>
        <p:nvSpPr>
          <p:cNvPr id="10" name="Shape 8"/>
          <p:cNvSpPr/>
          <p:nvPr/>
        </p:nvSpPr>
        <p:spPr>
          <a:xfrm>
            <a:off x="3682898" y="169164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3682898"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185818"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Stops</a:t>
            </a:r>
            <a:endParaRPr lang="en-US" sz="2000" dirty="0"/>
          </a:p>
        </p:txBody>
      </p:sp>
      <p:sp>
        <p:nvSpPr>
          <p:cNvPr id="13" name="Text 11"/>
          <p:cNvSpPr txBox="1"/>
          <p:nvPr/>
        </p:nvSpPr>
        <p:spPr>
          <a:xfrm>
            <a:off x="3682898"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the distinct bay nodes of its products' slots</a:t>
            </a:r>
            <a:endParaRPr lang="en-US" sz="1400" dirty="0"/>
          </a:p>
        </p:txBody>
      </p:sp>
      <p:sp>
        <p:nvSpPr>
          <p:cNvPr id="14" name="Shape 12"/>
          <p:cNvSpPr/>
          <p:nvPr/>
        </p:nvSpPr>
        <p:spPr>
          <a:xfrm>
            <a:off x="5904890" y="2423160"/>
            <a:ext cx="381914" cy="914"/>
          </a:xfrm>
          <a:prstGeom prst="line">
            <a:avLst/>
          </a:prstGeom>
          <a:noFill/>
          <a:ln w="19050">
            <a:solidFill>
              <a:schemeClr val="bg2"/>
            </a:solidFill>
            <a:prstDash val="solid"/>
            <a:tailEnd type="triangle"/>
          </a:ln>
        </p:spPr>
      </p:sp>
      <p:sp>
        <p:nvSpPr>
          <p:cNvPr id="15" name="step-Tour"/>
          <p:cNvSpPr/>
          <p:nvPr/>
        </p:nvSpPr>
        <p:spPr>
          <a:xfrm>
            <a:off x="6359957" y="1508760"/>
            <a:ext cx="2377440" cy="1828800"/>
          </a:xfrm>
          <a:prstGeom prst="roundRect">
            <a:avLst>
              <a:gd name="adj" fmla="val 6000"/>
            </a:avLst>
          </a:prstGeom>
          <a:solidFill>
            <a:schemeClr val="accent5"/>
          </a:solidFill>
          <a:ln w="9525">
            <a:solidFill>
              <a:schemeClr val="accent6"/>
            </a:solidFill>
            <a:prstDash val="solid"/>
          </a:ln>
        </p:spPr>
      </p:sp>
      <p:sp>
        <p:nvSpPr>
          <p:cNvPr id="16" name="Shape 14"/>
          <p:cNvSpPr/>
          <p:nvPr/>
        </p:nvSpPr>
        <p:spPr>
          <a:xfrm>
            <a:off x="6588557" y="1691640"/>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6588557"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7091477"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Tour</a:t>
            </a:r>
            <a:endParaRPr lang="en-US" sz="2000" dirty="0"/>
          </a:p>
        </p:txBody>
      </p:sp>
      <p:sp>
        <p:nvSpPr>
          <p:cNvPr id="19" name="Text 17"/>
          <p:cNvSpPr txBox="1"/>
          <p:nvPr/>
        </p:nvSpPr>
        <p:spPr>
          <a:xfrm>
            <a:off x="6588557"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Held–Karp, exact up to 11 stops; NN + 2-opt above, flagged</a:t>
            </a:r>
            <a:endParaRPr lang="en-US" sz="1400" dirty="0"/>
          </a:p>
        </p:txBody>
      </p:sp>
      <p:sp>
        <p:nvSpPr>
          <p:cNvPr id="20" name="Shape 18"/>
          <p:cNvSpPr/>
          <p:nvPr/>
        </p:nvSpPr>
        <p:spPr>
          <a:xfrm>
            <a:off x="8810549" y="2423160"/>
            <a:ext cx="381914" cy="914"/>
          </a:xfrm>
          <a:prstGeom prst="line">
            <a:avLst/>
          </a:prstGeom>
          <a:noFill/>
          <a:ln w="19050">
            <a:solidFill>
              <a:schemeClr val="bg2"/>
            </a:solidFill>
            <a:prstDash val="solid"/>
            <a:tailEnd type="triangle"/>
          </a:ln>
        </p:spPr>
      </p:sp>
      <p:sp>
        <p:nvSpPr>
          <p:cNvPr id="21" name="step-Score"/>
          <p:cNvSpPr/>
          <p:nvPr/>
        </p:nvSpPr>
        <p:spPr>
          <a:xfrm>
            <a:off x="9265615" y="1508760"/>
            <a:ext cx="2377440" cy="1828800"/>
          </a:xfrm>
          <a:prstGeom prst="roundRect">
            <a:avLst>
              <a:gd name="adj" fmla="val 6000"/>
            </a:avLst>
          </a:prstGeom>
          <a:solidFill>
            <a:schemeClr val="accent5"/>
          </a:solidFill>
          <a:ln w="9525">
            <a:solidFill>
              <a:schemeClr val="accent6"/>
            </a:solidFill>
            <a:prstDash val="solid"/>
          </a:ln>
        </p:spPr>
      </p:sp>
      <p:sp>
        <p:nvSpPr>
          <p:cNvPr id="22" name="Shape 20"/>
          <p:cNvSpPr/>
          <p:nvPr/>
        </p:nvSpPr>
        <p:spPr>
          <a:xfrm>
            <a:off x="9494215" y="1691640"/>
            <a:ext cx="384048" cy="384048"/>
          </a:xfrm>
          <a:prstGeom prst="ellipse">
            <a:avLst/>
          </a:prstGeom>
          <a:solidFill>
            <a:schemeClr val="accent1"/>
          </a:solidFill>
          <a:ln w="12700">
            <a:solidFill>
              <a:schemeClr val="accent1"/>
            </a:solidFill>
            <a:prstDash val="solid"/>
          </a:ln>
        </p:spPr>
      </p:sp>
      <p:sp>
        <p:nvSpPr>
          <p:cNvPr id="23" name="Text 21"/>
          <p:cNvSpPr txBox="1"/>
          <p:nvPr/>
        </p:nvSpPr>
        <p:spPr>
          <a:xfrm>
            <a:off x="9494215"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9997135"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Score</a:t>
            </a:r>
            <a:endParaRPr lang="en-US" sz="2000" dirty="0"/>
          </a:p>
        </p:txBody>
      </p:sp>
      <p:sp>
        <p:nvSpPr>
          <p:cNvPr id="25" name="Text 23"/>
          <p:cNvSpPr txBox="1"/>
          <p:nvPr/>
        </p:nvSpPr>
        <p:spPr>
          <a:xfrm>
            <a:off x="9494215"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path expanded edge by edge; seconds = m / 1.2 + 8 × lines</a:t>
            </a:r>
            <a:endParaRPr lang="en-US" sz="1400" dirty="0"/>
          </a:p>
        </p:txBody>
      </p:sp>
      <p:sp>
        <p:nvSpPr>
          <p:cNvPr id="26" name="card-Held–Karp dynamic programming"/>
          <p:cNvSpPr/>
          <p:nvPr/>
        </p:nvSpPr>
        <p:spPr>
          <a:xfrm>
            <a:off x="548640" y="3703320"/>
            <a:ext cx="5364328" cy="2423160"/>
          </a:xfrm>
          <a:prstGeom prst="roundRect">
            <a:avLst>
              <a:gd name="adj" fmla="val 4528"/>
            </a:avLst>
          </a:prstGeom>
          <a:solidFill>
            <a:schemeClr val="tx2"/>
          </a:solidFill>
          <a:ln w="9525">
            <a:solidFill>
              <a:schemeClr val="accent6"/>
            </a:solidFill>
            <a:prstDash val="solid"/>
          </a:ln>
        </p:spPr>
      </p:sp>
      <p:sp>
        <p:nvSpPr>
          <p:cNvPr id="27" name="Shape 25"/>
          <p:cNvSpPr/>
          <p:nvPr/>
        </p:nvSpPr>
        <p:spPr>
          <a:xfrm>
            <a:off x="822960" y="3977640"/>
            <a:ext cx="384048" cy="384048"/>
          </a:xfrm>
          <a:prstGeom prst="ellipse">
            <a:avLst/>
          </a:prstGeom>
          <a:solidFill>
            <a:schemeClr val="accent2"/>
          </a:solidFill>
          <a:ln w="12700">
            <a:solidFill>
              <a:schemeClr val="accent2"/>
            </a:solidFill>
            <a:prstDash val="solid"/>
          </a:ln>
        </p:spPr>
      </p:sp>
      <p:sp>
        <p:nvSpPr>
          <p:cNvPr id="28" name="Text 26"/>
          <p:cNvSpPr txBox="1"/>
          <p:nvPr/>
        </p:nvSpPr>
        <p:spPr>
          <a:xfrm>
            <a:off x="822960" y="3977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HK</a:t>
            </a:r>
            <a:endParaRPr lang="en-US" sz="1400" dirty="0"/>
          </a:p>
        </p:txBody>
      </p:sp>
      <p:sp>
        <p:nvSpPr>
          <p:cNvPr id="29" name="Text 27"/>
          <p:cNvSpPr txBox="1"/>
          <p:nvPr/>
        </p:nvSpPr>
        <p:spPr>
          <a:xfrm>
            <a:off x="1325880" y="3977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Held–Karp dynamic programming</a:t>
            </a:r>
            <a:endParaRPr lang="en-US" sz="1900" dirty="0"/>
          </a:p>
        </p:txBody>
      </p:sp>
      <p:sp>
        <p:nvSpPr>
          <p:cNvPr id="30" name="Text 28"/>
          <p:cNvSpPr txBox="1"/>
          <p:nvPr/>
        </p:nvSpPr>
        <p:spPr>
          <a:xfrm>
            <a:off x="822960" y="4572000"/>
            <a:ext cx="4815688" cy="13258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dp[mask][j] is the shortest walk from the dock through exactly the stops in mask, ending at j. That is O(2ⁿ·n²): about 250k steps at n = 11, under a millisecond. The share of metres routed exactly is reported.</a:t>
            </a:r>
            <a:endParaRPr lang="en-US" sz="1500" dirty="0"/>
          </a:p>
        </p:txBody>
      </p:sp>
      <p:sp>
        <p:nvSpPr>
          <p:cNvPr id="31" name="card-S-shape ablation"/>
          <p:cNvSpPr/>
          <p:nvPr/>
        </p:nvSpPr>
        <p:spPr>
          <a:xfrm>
            <a:off x="6278728" y="3703320"/>
            <a:ext cx="5364328" cy="2423160"/>
          </a:xfrm>
          <a:prstGeom prst="roundRect">
            <a:avLst>
              <a:gd name="adj" fmla="val 4528"/>
            </a:avLst>
          </a:prstGeom>
          <a:solidFill>
            <a:schemeClr val="tx2"/>
          </a:solidFill>
          <a:ln w="9525">
            <a:solidFill>
              <a:schemeClr val="accent6"/>
            </a:solidFill>
            <a:prstDash val="solid"/>
          </a:ln>
        </p:spPr>
      </p:sp>
      <p:sp>
        <p:nvSpPr>
          <p:cNvPr id="32" name="Shape 30"/>
          <p:cNvSpPr/>
          <p:nvPr/>
        </p:nvSpPr>
        <p:spPr>
          <a:xfrm>
            <a:off x="6553048" y="3977640"/>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553048" y="3977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S</a:t>
            </a:r>
            <a:endParaRPr lang="en-US" sz="1400" dirty="0"/>
          </a:p>
        </p:txBody>
      </p:sp>
      <p:sp>
        <p:nvSpPr>
          <p:cNvPr id="34" name="Text 32"/>
          <p:cNvSpPr txBox="1"/>
          <p:nvPr/>
        </p:nvSpPr>
        <p:spPr>
          <a:xfrm>
            <a:off x="7055968" y="3977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S-shape ablation</a:t>
            </a:r>
            <a:endParaRPr lang="en-US" sz="1900" dirty="0"/>
          </a:p>
        </p:txBody>
      </p:sp>
      <p:sp>
        <p:nvSpPr>
          <p:cNvPr id="35" name="Text 33"/>
          <p:cNvSpPr txBox="1"/>
          <p:nvPr/>
        </p:nvSpPr>
        <p:spPr>
          <a:xfrm>
            <a:off x="6553048" y="4572000"/>
            <a:ext cx="4815688" cy="13258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What a human picker usually does: walk every aisle that has a pick, end to end. Toggling it separates the gain from routing from the gain from slotting. It can never beat the exact tour, and a test checks that.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Re-slot, replay, race the ghost</a:t>
            </a:r>
            <a:endParaRPr lang="en-US" sz="3200" dirty="0"/>
          </a:p>
        </p:txBody>
      </p:sp>
      <p:sp>
        <p:nvSpPr>
          <p:cNvPr id="3" name="pending-race.png"/>
          <p:cNvSpPr/>
          <p:nvPr/>
        </p:nvSpPr>
        <p:spPr>
          <a:xfrm>
            <a:off x="548640" y="1463040"/>
            <a:ext cx="3454298" cy="1943043"/>
          </a:xfrm>
          <a:prstGeom prst="roundRect">
            <a:avLst>
              <a:gd name="adj" fmla="val 4706"/>
            </a:avLst>
          </a:prstGeom>
          <a:solidFill>
            <a:schemeClr val="accent5"/>
          </a:solidFill>
          <a:ln w="12700">
            <a:solidFill>
              <a:schemeClr val="accent6"/>
            </a:solidFill>
            <a:prstDash val="dash"/>
          </a:ln>
        </p:spPr>
      </p:sp>
      <p:sp>
        <p:nvSpPr>
          <p:cNvPr id="4" name="Text 2"/>
          <p:cNvSpPr txBox="1"/>
          <p:nvPr/>
        </p:nvSpPr>
        <p:spPr>
          <a:xfrm>
            <a:off x="822960" y="1463040"/>
            <a:ext cx="2905658" cy="1943043"/>
          </a:xfrm>
          <a:prstGeom prst="rect">
            <a:avLst/>
          </a:prstGeom>
          <a:noFill/>
          <a:ln/>
        </p:spPr>
        <p:txBody>
          <a:bodyPr wrap="square" lIns="0" tIns="0" rIns="0" bIns="0" rtlCol="0" anchor="ctr"/>
          <a:lstStyle/>
          <a:p>
            <a:pPr algn="ctr" indent="0" marL="0">
              <a:buNone/>
            </a:pPr>
            <a:r>
              <a:rPr lang="en-US" sz="1400" i="1" dirty="0">
                <a:solidFill>
                  <a:schemeClr val="bg2"/>
                </a:solidFill>
                <a:latin typeface="Calibri" pitchFamily="34" charset="0"/>
                <a:ea typeface="Calibri" pitchFamily="34" charset="-122"/>
                <a:cs typeface="Calibri" pitchFamily="34" charset="-120"/>
              </a:rPr>
              <a:t>Pending: race.png</a:t>
            </a:r>
            <a:endParaRPr lang="en-US" sz="1400" dirty="0"/>
          </a:p>
        </p:txBody>
      </p:sp>
      <p:sp>
        <p:nvSpPr>
          <p:cNvPr id="5" name="Text 3"/>
          <p:cNvSpPr txBox="1"/>
          <p:nvPr/>
        </p:nvSpPr>
        <p:spPr>
          <a:xfrm>
            <a:off x="548640"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Race: ghost = the layout you started from, solid = yours, same held-out orders</a:t>
            </a:r>
            <a:endParaRPr lang="en-US" sz="1400" dirty="0"/>
          </a:p>
        </p:txBody>
      </p:sp>
      <p:sp>
        <p:nvSpPr>
          <p:cNvPr id="6" name="pending-slot.png"/>
          <p:cNvSpPr/>
          <p:nvPr/>
        </p:nvSpPr>
        <p:spPr>
          <a:xfrm>
            <a:off x="4368698" y="1463040"/>
            <a:ext cx="3454298" cy="1943043"/>
          </a:xfrm>
          <a:prstGeom prst="roundRect">
            <a:avLst>
              <a:gd name="adj" fmla="val 4706"/>
            </a:avLst>
          </a:prstGeom>
          <a:solidFill>
            <a:schemeClr val="accent5"/>
          </a:solidFill>
          <a:ln w="12700">
            <a:solidFill>
              <a:schemeClr val="accent6"/>
            </a:solidFill>
            <a:prstDash val="dash"/>
          </a:ln>
        </p:spPr>
      </p:sp>
      <p:sp>
        <p:nvSpPr>
          <p:cNvPr id="7" name="Text 5"/>
          <p:cNvSpPr txBox="1"/>
          <p:nvPr/>
        </p:nvSpPr>
        <p:spPr>
          <a:xfrm>
            <a:off x="4643018" y="1463040"/>
            <a:ext cx="2905658" cy="1943043"/>
          </a:xfrm>
          <a:prstGeom prst="rect">
            <a:avLst/>
          </a:prstGeom>
          <a:noFill/>
          <a:ln/>
        </p:spPr>
        <p:txBody>
          <a:bodyPr wrap="square" lIns="0" tIns="0" rIns="0" bIns="0" rtlCol="0" anchor="ctr"/>
          <a:lstStyle/>
          <a:p>
            <a:pPr algn="ctr" indent="0" marL="0">
              <a:buNone/>
            </a:pPr>
            <a:r>
              <a:rPr lang="en-US" sz="1400" i="1" dirty="0">
                <a:solidFill>
                  <a:schemeClr val="bg2"/>
                </a:solidFill>
                <a:latin typeface="Calibri" pitchFamily="34" charset="0"/>
                <a:ea typeface="Calibri" pitchFamily="34" charset="-122"/>
                <a:cs typeface="Calibri" pitchFamily="34" charset="-120"/>
              </a:rPr>
              <a:t>Pending: slot.png</a:t>
            </a:r>
            <a:endParaRPr lang="en-US" sz="1400" dirty="0"/>
          </a:p>
        </p:txBody>
      </p:sp>
      <p:sp>
        <p:nvSpPr>
          <p:cNvPr id="8" name="Text 6"/>
          <p:cNvSpPr txBox="1"/>
          <p:nvPr/>
        </p:nvSpPr>
        <p:spPr>
          <a:xfrm>
            <a:off x="4368698"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Slot: click a carton, click another to swap, in 3D or on the 2D map; train and held-out re-score</a:t>
            </a:r>
            <a:endParaRPr lang="en-US" sz="1400" dirty="0"/>
          </a:p>
        </p:txBody>
      </p:sp>
      <p:sp>
        <p:nvSpPr>
          <p:cNvPr id="9" name="pending-anneal.png"/>
          <p:cNvSpPr/>
          <p:nvPr/>
        </p:nvSpPr>
        <p:spPr>
          <a:xfrm>
            <a:off x="8188757" y="1463040"/>
            <a:ext cx="3454298" cy="1943043"/>
          </a:xfrm>
          <a:prstGeom prst="roundRect">
            <a:avLst>
              <a:gd name="adj" fmla="val 4706"/>
            </a:avLst>
          </a:prstGeom>
          <a:solidFill>
            <a:schemeClr val="accent5"/>
          </a:solidFill>
          <a:ln w="12700">
            <a:solidFill>
              <a:schemeClr val="accent6"/>
            </a:solidFill>
            <a:prstDash val="dash"/>
          </a:ln>
        </p:spPr>
      </p:sp>
      <p:sp>
        <p:nvSpPr>
          <p:cNvPr id="10" name="Text 8"/>
          <p:cNvSpPr txBox="1"/>
          <p:nvPr/>
        </p:nvSpPr>
        <p:spPr>
          <a:xfrm>
            <a:off x="8463077" y="1463040"/>
            <a:ext cx="2905658" cy="1943043"/>
          </a:xfrm>
          <a:prstGeom prst="rect">
            <a:avLst/>
          </a:prstGeom>
          <a:noFill/>
          <a:ln/>
        </p:spPr>
        <p:txBody>
          <a:bodyPr wrap="square" lIns="0" tIns="0" rIns="0" bIns="0" rtlCol="0" anchor="ctr"/>
          <a:lstStyle/>
          <a:p>
            <a:pPr algn="ctr" indent="0" marL="0">
              <a:buNone/>
            </a:pPr>
            <a:r>
              <a:rPr lang="en-US" sz="1400" i="1" dirty="0">
                <a:solidFill>
                  <a:schemeClr val="bg2"/>
                </a:solidFill>
                <a:latin typeface="Calibri" pitchFamily="34" charset="0"/>
                <a:ea typeface="Calibri" pitchFamily="34" charset="-122"/>
                <a:cs typeface="Calibri" pitchFamily="34" charset="-120"/>
              </a:rPr>
              <a:t>Pending: anneal.png</a:t>
            </a:r>
            <a:endParaRPr lang="en-US" sz="1400" dirty="0"/>
          </a:p>
        </p:txBody>
      </p:sp>
      <p:sp>
        <p:nvSpPr>
          <p:cNvPr id="11" name="Text 9"/>
          <p:cNvSpPr txBox="1"/>
          <p:nvPr/>
        </p:nvSpPr>
        <p:spPr>
          <a:xfrm>
            <a:off x="8188757"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Anneal: the optimiser runs live in a worker, and cartons fly as swaps are accepted</a:t>
            </a:r>
            <a:endParaRPr lang="en-US" sz="1400" dirty="0"/>
          </a:p>
        </p:txBody>
      </p:sp>
      <p:sp>
        <p:nvSpPr>
          <p:cNvPr id="12" name="mode-Replay"/>
          <p:cNvSpPr/>
          <p:nvPr/>
        </p:nvSpPr>
        <p:spPr>
          <a:xfrm>
            <a:off x="548640" y="5212080"/>
            <a:ext cx="1889699" cy="548640"/>
          </a:xfrm>
          <a:prstGeom prst="roundRect">
            <a:avLst>
              <a:gd name="adj" fmla="val 50000"/>
            </a:avLst>
          </a:prstGeom>
          <a:solidFill>
            <a:schemeClr val="accent5"/>
          </a:solidFill>
          <a:ln w="9525">
            <a:solidFill>
              <a:schemeClr val="accent6"/>
            </a:solidFill>
            <a:prstDash val="solid"/>
          </a:ln>
        </p:spPr>
      </p:sp>
      <p:sp>
        <p:nvSpPr>
          <p:cNvPr id="13" name="Text 11"/>
          <p:cNvSpPr txBox="1"/>
          <p:nvPr/>
        </p:nvSpPr>
        <p:spPr>
          <a:xfrm>
            <a:off x="548640"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Replay</a:t>
            </a:r>
            <a:endParaRPr lang="en-US" sz="1600" dirty="0"/>
          </a:p>
        </p:txBody>
      </p:sp>
      <p:sp>
        <p:nvSpPr>
          <p:cNvPr id="14" name="Shape 12"/>
          <p:cNvSpPr/>
          <p:nvPr/>
        </p:nvSpPr>
        <p:spPr>
          <a:xfrm>
            <a:off x="2484059" y="5486400"/>
            <a:ext cx="320040" cy="914"/>
          </a:xfrm>
          <a:prstGeom prst="line">
            <a:avLst/>
          </a:prstGeom>
          <a:noFill/>
          <a:ln w="19050">
            <a:solidFill>
              <a:schemeClr val="bg2"/>
            </a:solidFill>
            <a:prstDash val="solid"/>
            <a:tailEnd type="triangle"/>
          </a:ln>
        </p:spPr>
      </p:sp>
      <p:sp>
        <p:nvSpPr>
          <p:cNvPr id="15" name="mode-Slot"/>
          <p:cNvSpPr/>
          <p:nvPr/>
        </p:nvSpPr>
        <p:spPr>
          <a:xfrm>
            <a:off x="2849819" y="5212080"/>
            <a:ext cx="1889699" cy="548640"/>
          </a:xfrm>
          <a:prstGeom prst="roundRect">
            <a:avLst>
              <a:gd name="adj" fmla="val 50000"/>
            </a:avLst>
          </a:prstGeom>
          <a:solidFill>
            <a:schemeClr val="accent5"/>
          </a:solidFill>
          <a:ln w="9525">
            <a:solidFill>
              <a:schemeClr val="accent6"/>
            </a:solidFill>
            <a:prstDash val="solid"/>
          </a:ln>
        </p:spPr>
      </p:sp>
      <p:sp>
        <p:nvSpPr>
          <p:cNvPr id="16" name="Text 14"/>
          <p:cNvSpPr txBox="1"/>
          <p:nvPr/>
        </p:nvSpPr>
        <p:spPr>
          <a:xfrm>
            <a:off x="2849819"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Slot</a:t>
            </a:r>
            <a:endParaRPr lang="en-US" sz="1600" dirty="0"/>
          </a:p>
        </p:txBody>
      </p:sp>
      <p:sp>
        <p:nvSpPr>
          <p:cNvPr id="17" name="Shape 15"/>
          <p:cNvSpPr/>
          <p:nvPr/>
        </p:nvSpPr>
        <p:spPr>
          <a:xfrm>
            <a:off x="4785238" y="5486400"/>
            <a:ext cx="320040" cy="914"/>
          </a:xfrm>
          <a:prstGeom prst="line">
            <a:avLst/>
          </a:prstGeom>
          <a:noFill/>
          <a:ln w="19050">
            <a:solidFill>
              <a:schemeClr val="bg2"/>
            </a:solidFill>
            <a:prstDash val="solid"/>
            <a:tailEnd type="triangle"/>
          </a:ln>
        </p:spPr>
      </p:sp>
      <p:sp>
        <p:nvSpPr>
          <p:cNvPr id="18" name="mode-Race"/>
          <p:cNvSpPr/>
          <p:nvPr/>
        </p:nvSpPr>
        <p:spPr>
          <a:xfrm>
            <a:off x="5150998" y="5212080"/>
            <a:ext cx="1889699" cy="548640"/>
          </a:xfrm>
          <a:prstGeom prst="roundRect">
            <a:avLst>
              <a:gd name="adj" fmla="val 50000"/>
            </a:avLst>
          </a:prstGeom>
          <a:solidFill>
            <a:schemeClr val="accent1"/>
          </a:solidFill>
          <a:ln w="9525">
            <a:solidFill>
              <a:schemeClr val="accent6"/>
            </a:solidFill>
            <a:prstDash val="solid"/>
          </a:ln>
        </p:spPr>
      </p:sp>
      <p:sp>
        <p:nvSpPr>
          <p:cNvPr id="19" name="Text 17"/>
          <p:cNvSpPr txBox="1"/>
          <p:nvPr/>
        </p:nvSpPr>
        <p:spPr>
          <a:xfrm>
            <a:off x="5150998" y="5212080"/>
            <a:ext cx="1889699" cy="5486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Race</a:t>
            </a:r>
            <a:endParaRPr lang="en-US" sz="1600" dirty="0"/>
          </a:p>
        </p:txBody>
      </p:sp>
      <p:sp>
        <p:nvSpPr>
          <p:cNvPr id="20" name="Shape 18"/>
          <p:cNvSpPr/>
          <p:nvPr/>
        </p:nvSpPr>
        <p:spPr>
          <a:xfrm>
            <a:off x="7086417" y="5486400"/>
            <a:ext cx="320040" cy="914"/>
          </a:xfrm>
          <a:prstGeom prst="line">
            <a:avLst/>
          </a:prstGeom>
          <a:noFill/>
          <a:ln w="19050">
            <a:solidFill>
              <a:schemeClr val="bg2"/>
            </a:solidFill>
            <a:prstDash val="solid"/>
            <a:tailEnd type="triangle"/>
          </a:ln>
        </p:spPr>
      </p:sp>
      <p:sp>
        <p:nvSpPr>
          <p:cNvPr id="21" name="mode-Anneal"/>
          <p:cNvSpPr/>
          <p:nvPr/>
        </p:nvSpPr>
        <p:spPr>
          <a:xfrm>
            <a:off x="7452177" y="5212080"/>
            <a:ext cx="1889699" cy="548640"/>
          </a:xfrm>
          <a:prstGeom prst="roundRect">
            <a:avLst>
              <a:gd name="adj" fmla="val 50000"/>
            </a:avLst>
          </a:prstGeom>
          <a:solidFill>
            <a:schemeClr val="accent5"/>
          </a:solidFill>
          <a:ln w="9525">
            <a:solidFill>
              <a:schemeClr val="accent6"/>
            </a:solidFill>
            <a:prstDash val="solid"/>
          </a:ln>
        </p:spPr>
      </p:sp>
      <p:sp>
        <p:nvSpPr>
          <p:cNvPr id="22" name="Text 20"/>
          <p:cNvSpPr txBox="1"/>
          <p:nvPr/>
        </p:nvSpPr>
        <p:spPr>
          <a:xfrm>
            <a:off x="7452177"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Anneal</a:t>
            </a:r>
            <a:endParaRPr lang="en-US" sz="1600" dirty="0"/>
          </a:p>
        </p:txBody>
      </p:sp>
      <p:sp>
        <p:nvSpPr>
          <p:cNvPr id="23" name="Shape 21"/>
          <p:cNvSpPr/>
          <p:nvPr/>
        </p:nvSpPr>
        <p:spPr>
          <a:xfrm>
            <a:off x="9387596" y="5486400"/>
            <a:ext cx="320040" cy="914"/>
          </a:xfrm>
          <a:prstGeom prst="line">
            <a:avLst/>
          </a:prstGeom>
          <a:noFill/>
          <a:ln w="19050">
            <a:solidFill>
              <a:schemeClr val="bg2"/>
            </a:solidFill>
            <a:prstDash val="solid"/>
            <a:tailEnd type="triangle"/>
          </a:ln>
        </p:spPr>
      </p:sp>
      <p:sp>
        <p:nvSpPr>
          <p:cNvPr id="24" name="mode-Evidence"/>
          <p:cNvSpPr/>
          <p:nvPr/>
        </p:nvSpPr>
        <p:spPr>
          <a:xfrm>
            <a:off x="9753356" y="5212080"/>
            <a:ext cx="1889699" cy="548640"/>
          </a:xfrm>
          <a:prstGeom prst="roundRect">
            <a:avLst>
              <a:gd name="adj" fmla="val 50000"/>
            </a:avLst>
          </a:prstGeom>
          <a:solidFill>
            <a:schemeClr val="accent5"/>
          </a:solidFill>
          <a:ln w="9525">
            <a:solidFill>
              <a:schemeClr val="accent6"/>
            </a:solidFill>
            <a:prstDash val="solid"/>
          </a:ln>
        </p:spPr>
      </p:sp>
      <p:sp>
        <p:nvSpPr>
          <p:cNvPr id="25" name="Text 23"/>
          <p:cNvSpPr txBox="1"/>
          <p:nvPr/>
        </p:nvSpPr>
        <p:spPr>
          <a:xfrm>
            <a:off x="9753356"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Evidence</a:t>
            </a:r>
            <a:endParaRPr lang="en-US" sz="1600" dirty="0"/>
          </a:p>
        </p:txBody>
      </p:sp>
      <p:sp>
        <p:nvSpPr>
          <p:cNvPr id="26" name="Text 24"/>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Must-haves: replay with live distance and time counters · swap and re-score before / after · automatic fast-movers baseline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The opponent: simulated annealing</a:t>
            </a:r>
            <a:endParaRPr lang="en-US" sz="3200" dirty="0"/>
          </a:p>
        </p:txBody>
      </p:sp>
      <p:sp>
        <p:nvSpPr>
          <p:cNvPr id="3" name="sa-Swap"/>
          <p:cNvSpPr/>
          <p:nvPr/>
        </p:nvSpPr>
        <p:spPr>
          <a:xfrm>
            <a:off x="548640" y="1463040"/>
            <a:ext cx="4206240" cy="841248"/>
          </a:xfrm>
          <a:prstGeom prst="roundRect">
            <a:avLst>
              <a:gd name="adj" fmla="val 13043"/>
            </a:avLst>
          </a:prstGeom>
          <a:solidFill>
            <a:schemeClr val="accent5"/>
          </a:solidFill>
          <a:ln w="9525">
            <a:solidFill>
              <a:schemeClr val="accent6"/>
            </a:solidFill>
            <a:prstDash val="solid"/>
          </a:ln>
        </p:spPr>
      </p:sp>
      <p:sp>
        <p:nvSpPr>
          <p:cNvPr id="4" name="Shape 2"/>
          <p:cNvSpPr/>
          <p:nvPr/>
        </p:nvSpPr>
        <p:spPr>
          <a:xfrm>
            <a:off x="777240" y="169164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463040"/>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Swap  </a:t>
            </a:r>
            <a:pPr indent="0" marL="0">
              <a:buNone/>
            </a:pPr>
            <a:r>
              <a:rPr lang="en-US" sz="1500" dirty="0">
                <a:solidFill>
                  <a:schemeClr val="bg2"/>
                </a:solidFill>
                <a:latin typeface="Calibri" pitchFamily="34" charset="0"/>
                <a:ea typeface="Calibri" pitchFamily="34" charset="-122"/>
                <a:cs typeface="Calibri" pitchFamily="34" charset="-120"/>
              </a:rPr>
              <a:t>two SKUs' slots</a:t>
            </a:r>
            <a:endParaRPr lang="en-US" sz="1500" dirty="0"/>
          </a:p>
        </p:txBody>
      </p:sp>
      <p:sp>
        <p:nvSpPr>
          <p:cNvPr id="7" name="sa-Re-route"/>
          <p:cNvSpPr/>
          <p:nvPr/>
        </p:nvSpPr>
        <p:spPr>
          <a:xfrm>
            <a:off x="548640" y="2487168"/>
            <a:ext cx="4206240" cy="841248"/>
          </a:xfrm>
          <a:prstGeom prst="roundRect">
            <a:avLst>
              <a:gd name="adj" fmla="val 13043"/>
            </a:avLst>
          </a:prstGeom>
          <a:solidFill>
            <a:schemeClr val="accent5"/>
          </a:solidFill>
          <a:ln w="9525">
            <a:solidFill>
              <a:schemeClr val="accent6"/>
            </a:solidFill>
            <a:prstDash val="solid"/>
          </a:ln>
        </p:spPr>
      </p:sp>
      <p:sp>
        <p:nvSpPr>
          <p:cNvPr id="8" name="Shape 6"/>
          <p:cNvSpPr/>
          <p:nvPr/>
        </p:nvSpPr>
        <p:spPr>
          <a:xfrm>
            <a:off x="777240" y="2715768"/>
            <a:ext cx="384048" cy="384048"/>
          </a:xfrm>
          <a:prstGeom prst="ellipse">
            <a:avLst/>
          </a:prstGeom>
          <a:solidFill>
            <a:schemeClr val="accent2"/>
          </a:solidFill>
          <a:ln w="12700">
            <a:solidFill>
              <a:schemeClr val="accent2"/>
            </a:solidFill>
            <a:prstDash val="solid"/>
          </a:ln>
        </p:spPr>
      </p:sp>
      <p:sp>
        <p:nvSpPr>
          <p:cNvPr id="9" name="Text 7"/>
          <p:cNvSpPr txBox="1"/>
          <p:nvPr/>
        </p:nvSpPr>
        <p:spPr>
          <a:xfrm>
            <a:off x="777240" y="271576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25880" y="2487168"/>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Re-route  </a:t>
            </a:r>
            <a:pPr indent="0" marL="0">
              <a:buNone/>
            </a:pPr>
            <a:r>
              <a:rPr lang="en-US" sz="1500" dirty="0">
                <a:solidFill>
                  <a:schemeClr val="bg2"/>
                </a:solidFill>
                <a:latin typeface="Calibri" pitchFamily="34" charset="0"/>
                <a:ea typeface="Calibri" pitchFamily="34" charset="-122"/>
                <a:cs typeface="Calibri" pitchFamily="34" charset="-120"/>
              </a:rPr>
              <a:t>only the train orders that contain them</a:t>
            </a:r>
            <a:endParaRPr lang="en-US" sz="1500" dirty="0"/>
          </a:p>
        </p:txBody>
      </p:sp>
      <p:sp>
        <p:nvSpPr>
          <p:cNvPr id="11" name="sa-Accept"/>
          <p:cNvSpPr/>
          <p:nvPr/>
        </p:nvSpPr>
        <p:spPr>
          <a:xfrm>
            <a:off x="548640" y="3511296"/>
            <a:ext cx="4206240" cy="841248"/>
          </a:xfrm>
          <a:prstGeom prst="roundRect">
            <a:avLst>
              <a:gd name="adj" fmla="val 13043"/>
            </a:avLst>
          </a:prstGeom>
          <a:solidFill>
            <a:schemeClr val="accent5"/>
          </a:solidFill>
          <a:ln w="9525">
            <a:solidFill>
              <a:schemeClr val="accent6"/>
            </a:solidFill>
            <a:prstDash val="solid"/>
          </a:ln>
        </p:spPr>
      </p:sp>
      <p:sp>
        <p:nvSpPr>
          <p:cNvPr id="12" name="Shape 10"/>
          <p:cNvSpPr/>
          <p:nvPr/>
        </p:nvSpPr>
        <p:spPr>
          <a:xfrm>
            <a:off x="777240" y="3739896"/>
            <a:ext cx="384048" cy="384048"/>
          </a:xfrm>
          <a:prstGeom prst="ellipse">
            <a:avLst/>
          </a:prstGeom>
          <a:solidFill>
            <a:schemeClr val="accent2"/>
          </a:solidFill>
          <a:ln w="12700">
            <a:solidFill>
              <a:schemeClr val="accent2"/>
            </a:solidFill>
            <a:prstDash val="solid"/>
          </a:ln>
        </p:spPr>
      </p:sp>
      <p:sp>
        <p:nvSpPr>
          <p:cNvPr id="13" name="Text 11"/>
          <p:cNvSpPr txBox="1"/>
          <p:nvPr/>
        </p:nvSpPr>
        <p:spPr>
          <a:xfrm>
            <a:off x="777240" y="3739896"/>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25880" y="3511296"/>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Accept  </a:t>
            </a:r>
            <a:pPr indent="0" marL="0">
              <a:buNone/>
            </a:pPr>
            <a:r>
              <a:rPr lang="en-US" sz="1500" dirty="0">
                <a:solidFill>
                  <a:schemeClr val="bg2"/>
                </a:solidFill>
                <a:latin typeface="Calibri" pitchFamily="34" charset="0"/>
                <a:ea typeface="Calibri" pitchFamily="34" charset="-122"/>
                <a:cs typeface="Calibri" pitchFamily="34" charset="-120"/>
              </a:rPr>
              <a:t>if shorter, else with probability exp(−Δ/T)</a:t>
            </a:r>
            <a:endParaRPr lang="en-US" sz="1500" dirty="0"/>
          </a:p>
        </p:txBody>
      </p:sp>
      <p:sp>
        <p:nvSpPr>
          <p:cNvPr id="15" name="sa-Cool"/>
          <p:cNvSpPr/>
          <p:nvPr/>
        </p:nvSpPr>
        <p:spPr>
          <a:xfrm>
            <a:off x="548640" y="4535424"/>
            <a:ext cx="4206240" cy="841248"/>
          </a:xfrm>
          <a:prstGeom prst="roundRect">
            <a:avLst>
              <a:gd name="adj" fmla="val 13043"/>
            </a:avLst>
          </a:prstGeom>
          <a:solidFill>
            <a:schemeClr val="accent5"/>
          </a:solidFill>
          <a:ln w="9525">
            <a:solidFill>
              <a:schemeClr val="accent6"/>
            </a:solidFill>
            <a:prstDash val="solid"/>
          </a:ln>
        </p:spPr>
      </p:sp>
      <p:sp>
        <p:nvSpPr>
          <p:cNvPr id="16" name="Shape 14"/>
          <p:cNvSpPr/>
          <p:nvPr/>
        </p:nvSpPr>
        <p:spPr>
          <a:xfrm>
            <a:off x="777240" y="4764024"/>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777240" y="476402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25880" y="4535424"/>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Cool  </a:t>
            </a:r>
            <a:pPr indent="0" marL="0">
              <a:buNone/>
            </a:pPr>
            <a:r>
              <a:rPr lang="en-US" sz="1500" dirty="0">
                <a:solidFill>
                  <a:schemeClr val="bg2"/>
                </a:solidFill>
                <a:latin typeface="Calibri" pitchFamily="34" charset="0"/>
                <a:ea typeface="Calibri" pitchFamily="34" charset="-122"/>
                <a:cs typeface="Calibri" pitchFamily="34" charset="-120"/>
              </a:rPr>
              <a:t>T from T₀ to T₀/1000 over the iteration budget</a:t>
            </a:r>
            <a:endParaRPr lang="en-US" sz="1500" dirty="0"/>
          </a:p>
        </p:txBody>
      </p:sp>
      <p:sp>
        <p:nvSpPr>
          <p:cNvPr id="19" name="Text 17"/>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300" i="1" dirty="0">
                <a:solidFill>
                  <a:schemeClr val="bg1"/>
                </a:solidFill>
                <a:latin typeface="Calibri" pitchFamily="34" charset="0"/>
                <a:ea typeface="Calibri" pitchFamily="34" charset="-122"/>
                <a:cs typeface="Calibri" pitchFamily="34" charset="-120"/>
              </a:rPr>
              <a:t>Seed 42 × 30,000 iterations gives the same layout on any machine. The optimiser sees train orders only.</a:t>
            </a:r>
            <a:endParaRPr lang="en-US" sz="1300" dirty="0"/>
          </a:p>
        </p:txBody>
      </p:sp>
      <p:sp>
        <p:nvSpPr>
          <p:cNvPr id="20" name="pending-convergence curve from web/public/layouts/sa_seed42.json (npm run eval)"/>
          <p:cNvSpPr/>
          <p:nvPr/>
        </p:nvSpPr>
        <p:spPr>
          <a:xfrm>
            <a:off x="5120640" y="1463040"/>
            <a:ext cx="6522415" cy="4572000"/>
          </a:xfrm>
          <a:prstGeom prst="roundRect">
            <a:avLst>
              <a:gd name="adj" fmla="val 2000"/>
            </a:avLst>
          </a:prstGeom>
          <a:solidFill>
            <a:schemeClr val="accent5"/>
          </a:solidFill>
          <a:ln w="12700">
            <a:solidFill>
              <a:schemeClr val="accent6"/>
            </a:solidFill>
            <a:prstDash val="dash"/>
          </a:ln>
        </p:spPr>
      </p:sp>
      <p:sp>
        <p:nvSpPr>
          <p:cNvPr id="21" name="Text 19"/>
          <p:cNvSpPr txBox="1"/>
          <p:nvPr/>
        </p:nvSpPr>
        <p:spPr>
          <a:xfrm>
            <a:off x="5394960" y="1463040"/>
            <a:ext cx="5973775" cy="4572000"/>
          </a:xfrm>
          <a:prstGeom prst="rect">
            <a:avLst/>
          </a:prstGeom>
          <a:noFill/>
          <a:ln/>
        </p:spPr>
        <p:txBody>
          <a:bodyPr wrap="square" lIns="0" tIns="0" rIns="0" bIns="0" rtlCol="0" anchor="ctr"/>
          <a:lstStyle/>
          <a:p>
            <a:pPr algn="ctr" indent="0" marL="0">
              <a:buNone/>
            </a:pPr>
            <a:r>
              <a:rPr lang="en-US" sz="1400" i="1" dirty="0">
                <a:solidFill>
                  <a:schemeClr val="bg2"/>
                </a:solidFill>
                <a:latin typeface="Calibri" pitchFamily="34" charset="0"/>
                <a:ea typeface="Calibri" pitchFamily="34" charset="-122"/>
                <a:cs typeface="Calibri" pitchFamily="34" charset="-120"/>
              </a:rPr>
              <a:t>Pending: convergence curve from web/public/layouts/sa_seed42.json (npm run eval)</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One simulator: browser, worker and eval</a:t>
            </a:r>
            <a:endParaRPr lang="en-US" sz="3200" dirty="0"/>
          </a:p>
        </p:txBody>
      </p:sp>
      <p:sp>
        <p:nvSpPr>
          <p:cNvPr id="3" name="box-online_retail_II.xlsx"/>
          <p:cNvSpPr/>
          <p:nvPr/>
        </p:nvSpPr>
        <p:spPr>
          <a:xfrm>
            <a:off x="548640" y="1371600"/>
            <a:ext cx="2377440" cy="777240"/>
          </a:xfrm>
          <a:prstGeom prst="roundRect">
            <a:avLst>
              <a:gd name="adj" fmla="val 9412"/>
            </a:avLst>
          </a:prstGeom>
          <a:solidFill>
            <a:schemeClr val="accent5"/>
          </a:solidFill>
          <a:ln w="12700">
            <a:solidFill>
              <a:schemeClr val="accent6"/>
            </a:solidFill>
            <a:prstDash val="solid"/>
          </a:ln>
        </p:spPr>
      </p:sp>
      <p:sp>
        <p:nvSpPr>
          <p:cNvPr id="4" name="Text 2"/>
          <p:cNvSpPr txBox="1"/>
          <p:nvPr/>
        </p:nvSpPr>
        <p:spPr>
          <a:xfrm>
            <a:off x="64008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online_retail_II.xlsx</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UCI · CC BY 4.0</a:t>
            </a:r>
            <a:endParaRPr lang="en-US" sz="1500" dirty="0"/>
          </a:p>
        </p:txBody>
      </p:sp>
      <p:sp>
        <p:nvSpPr>
          <p:cNvPr id="5" name="box-data/prepare.py"/>
          <p:cNvSpPr/>
          <p:nvPr/>
        </p:nvSpPr>
        <p:spPr>
          <a:xfrm>
            <a:off x="3474720" y="1371600"/>
            <a:ext cx="2377440" cy="777240"/>
          </a:xfrm>
          <a:prstGeom prst="roundRect">
            <a:avLst>
              <a:gd name="adj" fmla="val 9412"/>
            </a:avLst>
          </a:prstGeom>
          <a:solidFill>
            <a:schemeClr val="accent5"/>
          </a:solidFill>
          <a:ln w="12700">
            <a:solidFill>
              <a:schemeClr val="accent6"/>
            </a:solidFill>
            <a:prstDash val="solid"/>
          </a:ln>
        </p:spPr>
      </p:sp>
      <p:sp>
        <p:nvSpPr>
          <p:cNvPr id="6" name="Text 4"/>
          <p:cNvSpPr txBox="1"/>
          <p:nvPr/>
        </p:nvSpPr>
        <p:spPr>
          <a:xfrm>
            <a:off x="356616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data/prepare.py</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pandas · offline</a:t>
            </a:r>
            <a:endParaRPr lang="en-US" sz="1500" dirty="0"/>
          </a:p>
        </p:txBody>
      </p:sp>
      <p:sp>
        <p:nvSpPr>
          <p:cNvPr id="7" name="box-orders.json"/>
          <p:cNvSpPr/>
          <p:nvPr/>
        </p:nvSpPr>
        <p:spPr>
          <a:xfrm>
            <a:off x="6400800" y="1371600"/>
            <a:ext cx="2377440" cy="777240"/>
          </a:xfrm>
          <a:prstGeom prst="roundRect">
            <a:avLst>
              <a:gd name="adj" fmla="val 9412"/>
            </a:avLst>
          </a:prstGeom>
          <a:solidFill>
            <a:schemeClr val="accent5"/>
          </a:solidFill>
          <a:ln w="12700">
            <a:solidFill>
              <a:schemeClr val="accent1"/>
            </a:solidFill>
            <a:prstDash val="solid"/>
          </a:ln>
        </p:spPr>
      </p:sp>
      <p:sp>
        <p:nvSpPr>
          <p:cNvPr id="8" name="Text 6"/>
          <p:cNvSpPr txBox="1"/>
          <p:nvPr/>
        </p:nvSpPr>
        <p:spPr>
          <a:xfrm>
            <a:off x="649224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orders.json</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web/public/data</a:t>
            </a:r>
            <a:endParaRPr lang="en-US" sz="1500" dirty="0"/>
          </a:p>
        </p:txBody>
      </p:sp>
      <p:sp>
        <p:nvSpPr>
          <p:cNvPr id="9" name="Shape 7"/>
          <p:cNvSpPr/>
          <p:nvPr/>
        </p:nvSpPr>
        <p:spPr>
          <a:xfrm>
            <a:off x="2926080" y="1760220"/>
            <a:ext cx="548640" cy="914"/>
          </a:xfrm>
          <a:prstGeom prst="line">
            <a:avLst/>
          </a:prstGeom>
          <a:noFill/>
          <a:ln w="19050">
            <a:solidFill>
              <a:schemeClr val="bg2"/>
            </a:solidFill>
            <a:prstDash val="solid"/>
            <a:tailEnd type="triangle"/>
          </a:ln>
        </p:spPr>
      </p:sp>
      <p:sp>
        <p:nvSpPr>
          <p:cNvPr id="10" name="Shape 8"/>
          <p:cNvSpPr/>
          <p:nvPr/>
        </p:nvSpPr>
        <p:spPr>
          <a:xfrm>
            <a:off x="5852160" y="1760220"/>
            <a:ext cx="548640" cy="914"/>
          </a:xfrm>
          <a:prstGeom prst="line">
            <a:avLst/>
          </a:prstGeom>
          <a:noFill/>
          <a:ln w="19050">
            <a:solidFill>
              <a:schemeClr val="bg2"/>
            </a:solidFill>
            <a:prstDash val="solid"/>
            <a:tailEnd type="triangle"/>
          </a:ln>
        </p:spPr>
      </p:sp>
      <p:sp>
        <p:nvSpPr>
          <p:cNvPr id="11" name="group-browser"/>
          <p:cNvSpPr/>
          <p:nvPr/>
        </p:nvSpPr>
        <p:spPr>
          <a:xfrm>
            <a:off x="548640" y="2606040"/>
            <a:ext cx="7406640" cy="3611880"/>
          </a:xfrm>
          <a:prstGeom prst="roundRect">
            <a:avLst>
              <a:gd name="adj" fmla="val 2532"/>
            </a:avLst>
          </a:prstGeom>
          <a:solidFill>
            <a:schemeClr val="tx2"/>
          </a:solidFill>
          <a:ln w="12700">
            <a:solidFill>
              <a:schemeClr val="accent2"/>
            </a:solidFill>
            <a:prstDash val="dash"/>
          </a:ln>
        </p:spPr>
      </p:sp>
      <p:sp>
        <p:nvSpPr>
          <p:cNvPr id="12" name="Text 10"/>
          <p:cNvSpPr txBox="1"/>
          <p:nvPr/>
        </p:nvSpPr>
        <p:spPr>
          <a:xfrm>
            <a:off x="731520" y="2697480"/>
            <a:ext cx="4572000" cy="32004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Browser · static site on Vercel · no backend</a:t>
            </a:r>
            <a:endParaRPr lang="en-US" sz="1200" dirty="0"/>
          </a:p>
        </p:txBody>
      </p:sp>
      <p:sp>
        <p:nvSpPr>
          <p:cNvPr id="13" name="box-store.ts"/>
          <p:cNvSpPr/>
          <p:nvPr/>
        </p:nvSpPr>
        <p:spPr>
          <a:xfrm>
            <a:off x="3200400" y="3108960"/>
            <a:ext cx="2103120" cy="731520"/>
          </a:xfrm>
          <a:prstGeom prst="roundRect">
            <a:avLst>
              <a:gd name="adj" fmla="val 10000"/>
            </a:avLst>
          </a:prstGeom>
          <a:solidFill>
            <a:schemeClr val="accent5"/>
          </a:solidFill>
          <a:ln w="12700">
            <a:solidFill>
              <a:schemeClr val="accent1"/>
            </a:solidFill>
            <a:prstDash val="solid"/>
          </a:ln>
        </p:spPr>
      </p:sp>
      <p:sp>
        <p:nvSpPr>
          <p:cNvPr id="14" name="Text 12"/>
          <p:cNvSpPr txBox="1"/>
          <p:nvPr/>
        </p:nvSpPr>
        <p:spPr>
          <a:xfrm>
            <a:off x="3291840" y="3108960"/>
            <a:ext cx="192024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store.ts</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zustand state</a:t>
            </a:r>
            <a:endParaRPr lang="en-US" sz="1500" dirty="0"/>
          </a:p>
        </p:txBody>
      </p:sp>
      <p:sp>
        <p:nvSpPr>
          <p:cNvPr id="15" name="box-Web Worker · sim/"/>
          <p:cNvSpPr/>
          <p:nvPr/>
        </p:nvSpPr>
        <p:spPr>
          <a:xfrm>
            <a:off x="777240" y="4297680"/>
            <a:ext cx="3017520" cy="1645920"/>
          </a:xfrm>
          <a:prstGeom prst="roundRect">
            <a:avLst>
              <a:gd name="adj" fmla="val 4444"/>
            </a:avLst>
          </a:prstGeom>
          <a:solidFill>
            <a:schemeClr val="accent5"/>
          </a:solidFill>
          <a:ln w="12700">
            <a:solidFill>
              <a:schemeClr val="accent6"/>
            </a:solidFill>
            <a:prstDash val="solid"/>
          </a:ln>
        </p:spPr>
      </p:sp>
      <p:sp>
        <p:nvSpPr>
          <p:cNvPr id="16" name="Text 14"/>
          <p:cNvSpPr txBox="1"/>
          <p:nvPr/>
        </p:nvSpPr>
        <p:spPr>
          <a:xfrm>
            <a:off x="868680" y="4297680"/>
            <a:ext cx="283464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Web Worker · sim/</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aisle graph · Held–Karp · S-shape · simulate · layouts · annealing</a:t>
            </a:r>
            <a:endParaRPr lang="en-US" sz="1500" dirty="0"/>
          </a:p>
        </p:txBody>
      </p:sp>
      <p:sp>
        <p:nvSpPr>
          <p:cNvPr id="17" name="box-scene/"/>
          <p:cNvSpPr/>
          <p:nvPr/>
        </p:nvSpPr>
        <p:spPr>
          <a:xfrm>
            <a:off x="4114800" y="4297680"/>
            <a:ext cx="1737360" cy="1645920"/>
          </a:xfrm>
          <a:prstGeom prst="roundRect">
            <a:avLst>
              <a:gd name="adj" fmla="val 4444"/>
            </a:avLst>
          </a:prstGeom>
          <a:solidFill>
            <a:schemeClr val="accent5"/>
          </a:solidFill>
          <a:ln w="12700">
            <a:solidFill>
              <a:schemeClr val="accent6"/>
            </a:solidFill>
            <a:prstDash val="solid"/>
          </a:ln>
        </p:spPr>
      </p:sp>
      <p:sp>
        <p:nvSpPr>
          <p:cNvPr id="18" name="Text 16"/>
          <p:cNvSpPr txBox="1"/>
          <p:nvPr/>
        </p:nvSpPr>
        <p:spPr>
          <a:xfrm>
            <a:off x="4206240" y="4297680"/>
            <a:ext cx="155448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scene/</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React Three Fiber: racks, cartons, picker + ghost</a:t>
            </a:r>
            <a:endParaRPr lang="en-US" sz="1500" dirty="0"/>
          </a:p>
        </p:txBody>
      </p:sp>
      <p:sp>
        <p:nvSpPr>
          <p:cNvPr id="19" name="box-ui/"/>
          <p:cNvSpPr/>
          <p:nvPr/>
        </p:nvSpPr>
        <p:spPr>
          <a:xfrm>
            <a:off x="6035040" y="4297680"/>
            <a:ext cx="1691640" cy="1645920"/>
          </a:xfrm>
          <a:prstGeom prst="roundRect">
            <a:avLst>
              <a:gd name="adj" fmla="val 4444"/>
            </a:avLst>
          </a:prstGeom>
          <a:solidFill>
            <a:schemeClr val="accent5"/>
          </a:solidFill>
          <a:ln w="12700">
            <a:solidFill>
              <a:schemeClr val="accent6"/>
            </a:solidFill>
            <a:prstDash val="solid"/>
          </a:ln>
        </p:spPr>
      </p:sp>
      <p:sp>
        <p:nvSpPr>
          <p:cNvPr id="20" name="Text 18"/>
          <p:cNvSpPr txBox="1"/>
          <p:nvPr/>
        </p:nvSpPr>
        <p:spPr>
          <a:xfrm>
            <a:off x="6126480" y="4297680"/>
            <a:ext cx="150876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ui/</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KPI · slot map · race · evidence · leaderboard</a:t>
            </a:r>
            <a:endParaRPr lang="en-US" sz="1500" dirty="0"/>
          </a:p>
        </p:txBody>
      </p:sp>
      <p:sp>
        <p:nvSpPr>
          <p:cNvPr id="21" name="Shape 19"/>
          <p:cNvSpPr/>
          <p:nvPr/>
        </p:nvSpPr>
        <p:spPr>
          <a:xfrm flipH="1">
            <a:off x="4251960" y="2148840"/>
            <a:ext cx="3246120" cy="960120"/>
          </a:xfrm>
          <a:prstGeom prst="line">
            <a:avLst/>
          </a:prstGeom>
          <a:noFill/>
          <a:ln w="19050">
            <a:solidFill>
              <a:schemeClr val="accent1"/>
            </a:solidFill>
            <a:prstDash val="solid"/>
            <a:tailEnd type="triangle"/>
          </a:ln>
        </p:spPr>
      </p:sp>
      <p:sp>
        <p:nvSpPr>
          <p:cNvPr id="22" name="Shape 20"/>
          <p:cNvSpPr/>
          <p:nvPr/>
        </p:nvSpPr>
        <p:spPr>
          <a:xfrm flipH="1">
            <a:off x="2286000" y="3611880"/>
            <a:ext cx="914400" cy="685800"/>
          </a:xfrm>
          <a:prstGeom prst="line">
            <a:avLst/>
          </a:prstGeom>
          <a:noFill/>
          <a:ln w="19050">
            <a:solidFill>
              <a:schemeClr val="accent2"/>
            </a:solidFill>
            <a:prstDash val="solid"/>
            <a:headEnd type="triangle"/>
            <a:tailEnd type="triangle"/>
          </a:ln>
        </p:spPr>
      </p:sp>
      <p:sp>
        <p:nvSpPr>
          <p:cNvPr id="23" name="Shape 21"/>
          <p:cNvSpPr/>
          <p:nvPr/>
        </p:nvSpPr>
        <p:spPr>
          <a:xfrm>
            <a:off x="4754880" y="3840480"/>
            <a:ext cx="228600" cy="457200"/>
          </a:xfrm>
          <a:prstGeom prst="line">
            <a:avLst/>
          </a:prstGeom>
          <a:noFill/>
          <a:ln w="19050">
            <a:solidFill>
              <a:schemeClr val="bg2"/>
            </a:solidFill>
            <a:prstDash val="solid"/>
            <a:tailEnd type="triangle"/>
          </a:ln>
        </p:spPr>
      </p:sp>
      <p:sp>
        <p:nvSpPr>
          <p:cNvPr id="24" name="Shape 22"/>
          <p:cNvSpPr/>
          <p:nvPr/>
        </p:nvSpPr>
        <p:spPr>
          <a:xfrm>
            <a:off x="5303520" y="3703320"/>
            <a:ext cx="1554480" cy="594360"/>
          </a:xfrm>
          <a:prstGeom prst="line">
            <a:avLst/>
          </a:prstGeom>
          <a:noFill/>
          <a:ln w="19050">
            <a:solidFill>
              <a:schemeClr val="bg2"/>
            </a:solidFill>
            <a:prstDash val="solid"/>
            <a:tailEnd type="triangle"/>
          </a:ln>
        </p:spPr>
      </p:sp>
      <p:sp>
        <p:nvSpPr>
          <p:cNvPr id="25" name="group-node"/>
          <p:cNvSpPr/>
          <p:nvPr/>
        </p:nvSpPr>
        <p:spPr>
          <a:xfrm>
            <a:off x="8321040" y="2606040"/>
            <a:ext cx="3322015" cy="3611880"/>
          </a:xfrm>
          <a:prstGeom prst="roundRect">
            <a:avLst>
              <a:gd name="adj" fmla="val 2753"/>
            </a:avLst>
          </a:prstGeom>
          <a:solidFill>
            <a:schemeClr val="tx2"/>
          </a:solidFill>
          <a:ln w="12700">
            <a:solidFill>
              <a:schemeClr val="accent6"/>
            </a:solidFill>
            <a:prstDash val="dash"/>
          </a:ln>
        </p:spPr>
      </p:sp>
      <p:sp>
        <p:nvSpPr>
          <p:cNvPr id="26" name="Text 24"/>
          <p:cNvSpPr txBox="1"/>
          <p:nvPr/>
        </p:nvSpPr>
        <p:spPr>
          <a:xfrm>
            <a:off x="8503920" y="5806440"/>
            <a:ext cx="2956255" cy="320040"/>
          </a:xfrm>
          <a:prstGeom prst="rect">
            <a:avLst/>
          </a:prstGeom>
          <a:noFill/>
          <a:ln/>
        </p:spPr>
        <p:txBody>
          <a:bodyPr wrap="square" lIns="0" tIns="0" rIns="0" bIns="0" rtlCol="0" anchor="t"/>
          <a:lstStyle/>
          <a:p>
            <a:pPr indent="0" marL="0">
              <a:buNone/>
            </a:pPr>
            <a:r>
              <a:rPr lang="en-US" sz="1200" b="1" dirty="0">
                <a:solidFill>
                  <a:schemeClr val="bg2"/>
                </a:solidFill>
                <a:latin typeface="Calibri" pitchFamily="34" charset="0"/>
                <a:ea typeface="Calibri" pitchFamily="34" charset="-122"/>
                <a:cs typeface="Calibri" pitchFamily="34" charset="-120"/>
              </a:rPr>
              <a:t>Node · npm run eval</a:t>
            </a:r>
            <a:endParaRPr lang="en-US" sz="1200" dirty="0"/>
          </a:p>
        </p:txBody>
      </p:sp>
      <p:sp>
        <p:nvSpPr>
          <p:cNvPr id="27" name="box-eval/run.ts"/>
          <p:cNvSpPr/>
          <p:nvPr/>
        </p:nvSpPr>
        <p:spPr>
          <a:xfrm>
            <a:off x="8595360" y="2880360"/>
            <a:ext cx="2773375" cy="731520"/>
          </a:xfrm>
          <a:prstGeom prst="roundRect">
            <a:avLst>
              <a:gd name="adj" fmla="val 10000"/>
            </a:avLst>
          </a:prstGeom>
          <a:solidFill>
            <a:schemeClr val="accent5"/>
          </a:solidFill>
          <a:ln w="12700">
            <a:solidFill>
              <a:schemeClr val="accent6"/>
            </a:solidFill>
            <a:prstDash val="solid"/>
          </a:ln>
        </p:spPr>
      </p:sp>
      <p:sp>
        <p:nvSpPr>
          <p:cNvPr id="28" name="Text 26"/>
          <p:cNvSpPr txBox="1"/>
          <p:nvPr/>
        </p:nvSpPr>
        <p:spPr>
          <a:xfrm>
            <a:off x="8686800" y="288036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eval/run.ts</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the same sim/ engine</a:t>
            </a:r>
            <a:endParaRPr lang="en-US" sz="1500" dirty="0"/>
          </a:p>
        </p:txBody>
      </p:sp>
      <p:sp>
        <p:nvSpPr>
          <p:cNvPr id="29" name="box-eval/results.md"/>
          <p:cNvSpPr/>
          <p:nvPr/>
        </p:nvSpPr>
        <p:spPr>
          <a:xfrm>
            <a:off x="8595360" y="3886200"/>
            <a:ext cx="2773375" cy="731520"/>
          </a:xfrm>
          <a:prstGeom prst="roundRect">
            <a:avLst>
              <a:gd name="adj" fmla="val 10000"/>
            </a:avLst>
          </a:prstGeom>
          <a:solidFill>
            <a:schemeClr val="accent5"/>
          </a:solidFill>
          <a:ln w="12700">
            <a:solidFill>
              <a:schemeClr val="accent6"/>
            </a:solidFill>
            <a:prstDash val="solid"/>
          </a:ln>
        </p:spPr>
      </p:sp>
      <p:sp>
        <p:nvSpPr>
          <p:cNvPr id="30" name="Text 28"/>
          <p:cNvSpPr txBox="1"/>
          <p:nvPr/>
        </p:nvSpPr>
        <p:spPr>
          <a:xfrm>
            <a:off x="8686800" y="388620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eval/results.md</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 README and this deck</a:t>
            </a:r>
            <a:endParaRPr lang="en-US" sz="1500" dirty="0"/>
          </a:p>
        </p:txBody>
      </p:sp>
      <p:sp>
        <p:nvSpPr>
          <p:cNvPr id="31" name="box-sa_seed42.json"/>
          <p:cNvSpPr/>
          <p:nvPr/>
        </p:nvSpPr>
        <p:spPr>
          <a:xfrm>
            <a:off x="8595360" y="4892040"/>
            <a:ext cx="2773375" cy="731520"/>
          </a:xfrm>
          <a:prstGeom prst="roundRect">
            <a:avLst>
              <a:gd name="adj" fmla="val 10000"/>
            </a:avLst>
          </a:prstGeom>
          <a:solidFill>
            <a:schemeClr val="accent5"/>
          </a:solidFill>
          <a:ln w="12700">
            <a:solidFill>
              <a:schemeClr val="accent6"/>
            </a:solidFill>
            <a:prstDash val="solid"/>
          </a:ln>
        </p:spPr>
      </p:sp>
      <p:sp>
        <p:nvSpPr>
          <p:cNvPr id="32" name="Text 30"/>
          <p:cNvSpPr txBox="1"/>
          <p:nvPr/>
        </p:nvSpPr>
        <p:spPr>
          <a:xfrm>
            <a:off x="8686800" y="489204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sa_seed42.json</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 shipped SA layout in the app</a:t>
            </a:r>
            <a:endParaRPr lang="en-US" sz="1500" dirty="0"/>
          </a:p>
        </p:txBody>
      </p:sp>
      <p:sp>
        <p:nvSpPr>
          <p:cNvPr id="33" name="Shape 31"/>
          <p:cNvSpPr/>
          <p:nvPr/>
        </p:nvSpPr>
        <p:spPr>
          <a:xfrm>
            <a:off x="8778240" y="1760220"/>
            <a:ext cx="1203808" cy="914"/>
          </a:xfrm>
          <a:prstGeom prst="line">
            <a:avLst/>
          </a:prstGeom>
          <a:noFill/>
          <a:ln w="19050">
            <a:solidFill>
              <a:schemeClr val="bg2"/>
            </a:solidFill>
            <a:prstDash val="solid"/>
          </a:ln>
        </p:spPr>
      </p:sp>
      <p:sp>
        <p:nvSpPr>
          <p:cNvPr id="34" name="Shape 32"/>
          <p:cNvSpPr/>
          <p:nvPr/>
        </p:nvSpPr>
        <p:spPr>
          <a:xfrm>
            <a:off x="9982048" y="1760220"/>
            <a:ext cx="914" cy="1120140"/>
          </a:xfrm>
          <a:prstGeom prst="line">
            <a:avLst/>
          </a:prstGeom>
          <a:noFill/>
          <a:ln w="19050">
            <a:solidFill>
              <a:schemeClr val="bg2"/>
            </a:solidFill>
            <a:prstDash val="solid"/>
            <a:tailEnd type="triangle"/>
          </a:ln>
        </p:spPr>
      </p:sp>
      <p:sp>
        <p:nvSpPr>
          <p:cNvPr id="35" name="Shape 33"/>
          <p:cNvSpPr/>
          <p:nvPr/>
        </p:nvSpPr>
        <p:spPr>
          <a:xfrm>
            <a:off x="9982048" y="3611880"/>
            <a:ext cx="914" cy="274320"/>
          </a:xfrm>
          <a:prstGeom prst="line">
            <a:avLst/>
          </a:prstGeom>
          <a:noFill/>
          <a:ln w="19050">
            <a:solidFill>
              <a:schemeClr val="bg2"/>
            </a:solidFill>
            <a:prstDash val="solid"/>
            <a:tailEnd type="triangle"/>
          </a:ln>
        </p:spPr>
      </p:sp>
      <p:sp>
        <p:nvSpPr>
          <p:cNvPr id="36" name="Shape 34"/>
          <p:cNvSpPr/>
          <p:nvPr/>
        </p:nvSpPr>
        <p:spPr>
          <a:xfrm>
            <a:off x="11368735" y="3246120"/>
            <a:ext cx="137160" cy="914"/>
          </a:xfrm>
          <a:prstGeom prst="line">
            <a:avLst/>
          </a:prstGeom>
          <a:noFill/>
          <a:ln w="19050">
            <a:solidFill>
              <a:schemeClr val="bg2"/>
            </a:solidFill>
            <a:prstDash val="solid"/>
          </a:ln>
        </p:spPr>
      </p:sp>
      <p:sp>
        <p:nvSpPr>
          <p:cNvPr id="37" name="Shape 35"/>
          <p:cNvSpPr/>
          <p:nvPr/>
        </p:nvSpPr>
        <p:spPr>
          <a:xfrm>
            <a:off x="11505895" y="3246120"/>
            <a:ext cx="914" cy="2011680"/>
          </a:xfrm>
          <a:prstGeom prst="line">
            <a:avLst/>
          </a:prstGeom>
          <a:noFill/>
          <a:ln w="19050">
            <a:solidFill>
              <a:schemeClr val="bg2"/>
            </a:solidFill>
            <a:prstDash val="solid"/>
          </a:ln>
        </p:spPr>
      </p:sp>
      <p:sp>
        <p:nvSpPr>
          <p:cNvPr id="38" name="Shape 36"/>
          <p:cNvSpPr/>
          <p:nvPr/>
        </p:nvSpPr>
        <p:spPr>
          <a:xfrm flipH="1">
            <a:off x="11368735" y="5257800"/>
            <a:ext cx="137160" cy="914"/>
          </a:xfrm>
          <a:prstGeom prst="line">
            <a:avLst/>
          </a:prstGeom>
          <a:noFill/>
          <a:ln w="19050">
            <a:solidFill>
              <a:schemeClr val="bg2"/>
            </a:solidFill>
            <a:prstDash val="solid"/>
            <a:tailEnd type="triangle"/>
          </a:ln>
        </p:spPr>
      </p:sp>
      <p:sp>
        <p:nvSpPr>
          <p:cNvPr id="39" name="Shape 37"/>
          <p:cNvSpPr/>
          <p:nvPr/>
        </p:nvSpPr>
        <p:spPr>
          <a:xfrm flipH="1">
            <a:off x="7955280" y="5257800"/>
            <a:ext cx="640080" cy="914"/>
          </a:xfrm>
          <a:prstGeom prst="line">
            <a:avLst/>
          </a:prstGeom>
          <a:noFill/>
          <a:ln w="19050">
            <a:solidFill>
              <a:schemeClr val="accent1"/>
            </a:solidFill>
            <a:prstDash val="solid"/>
            <a:tailEnd type="triangle"/>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Results on held-out orders (16–30 Nov)</a:t>
            </a:r>
            <a:endParaRPr lang="en-US" sz="3200" dirty="0"/>
          </a:p>
        </p:txBody>
      </p:sp>
      <p:sp>
        <p:nvSpPr>
          <p:cNvPr id="3" name="pending-held-out results table from eval/results.md (run npm run eval in web/, then rebuild this deck)"/>
          <p:cNvSpPr/>
          <p:nvPr/>
        </p:nvSpPr>
        <p:spPr>
          <a:xfrm>
            <a:off x="548640" y="1463040"/>
            <a:ext cx="11094415" cy="4480560"/>
          </a:xfrm>
          <a:prstGeom prst="roundRect">
            <a:avLst>
              <a:gd name="adj" fmla="val 2041"/>
            </a:avLst>
          </a:prstGeom>
          <a:solidFill>
            <a:schemeClr val="accent5"/>
          </a:solidFill>
          <a:ln w="12700">
            <a:solidFill>
              <a:schemeClr val="accent6"/>
            </a:solidFill>
            <a:prstDash val="dash"/>
          </a:ln>
        </p:spPr>
      </p:sp>
      <p:sp>
        <p:nvSpPr>
          <p:cNvPr id="4" name="Text 2"/>
          <p:cNvSpPr txBox="1"/>
          <p:nvPr/>
        </p:nvSpPr>
        <p:spPr>
          <a:xfrm>
            <a:off x="822960" y="1463040"/>
            <a:ext cx="10545775" cy="4480560"/>
          </a:xfrm>
          <a:prstGeom prst="rect">
            <a:avLst/>
          </a:prstGeom>
          <a:noFill/>
          <a:ln/>
        </p:spPr>
        <p:txBody>
          <a:bodyPr wrap="square" lIns="0" tIns="0" rIns="0" bIns="0" rtlCol="0" anchor="ctr"/>
          <a:lstStyle/>
          <a:p>
            <a:pPr algn="ctr" indent="0" marL="0">
              <a:buNone/>
            </a:pPr>
            <a:r>
              <a:rPr lang="en-US" sz="1400" i="1" dirty="0">
                <a:solidFill>
                  <a:schemeClr val="bg2"/>
                </a:solidFill>
                <a:latin typeface="Calibri" pitchFamily="34" charset="0"/>
                <a:ea typeface="Calibri" pitchFamily="34" charset="-122"/>
                <a:cs typeface="Calibri" pitchFamily="34" charset="-120"/>
              </a:rPr>
              <a:t>Pending: held-out results table from eval/results.md (run npm run eval in web/, then rebuild this deck)</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Built so the numbers can be trusted</a:t>
            </a:r>
            <a:endParaRPr lang="en-US" sz="3200" dirty="0"/>
          </a:p>
        </p:txBody>
      </p:sp>
      <p:sp>
        <p:nvSpPr>
          <p:cNvPr id="3" name="card-Held-out split"/>
          <p:cNvSpPr/>
          <p:nvPr/>
        </p:nvSpPr>
        <p:spPr>
          <a:xfrm>
            <a:off x="548640" y="1417320"/>
            <a:ext cx="5364328" cy="2194560"/>
          </a:xfrm>
          <a:prstGeom prst="roundRect">
            <a:avLst>
              <a:gd name="adj" fmla="val 5000"/>
            </a:avLst>
          </a:prstGeom>
          <a:solidFill>
            <a:schemeClr val="tx2"/>
          </a:solidFill>
          <a:ln w="9525">
            <a:solidFill>
              <a:schemeClr val="accent6"/>
            </a:solidFill>
            <a:prstDash val="solid"/>
          </a:ln>
        </p:spPr>
      </p:sp>
      <p:sp>
        <p:nvSpPr>
          <p:cNvPr id="4" name="Shape 2"/>
          <p:cNvSpPr/>
          <p:nvPr/>
        </p:nvSpPr>
        <p:spPr>
          <a:xfrm>
            <a:off x="822960" y="169164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82296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691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Held-out split</a:t>
            </a:r>
            <a:endParaRPr lang="en-US" sz="1900" dirty="0"/>
          </a:p>
        </p:txBody>
      </p:sp>
      <p:sp>
        <p:nvSpPr>
          <p:cNvPr id="7" name="Text 5"/>
          <p:cNvSpPr txBox="1"/>
          <p:nvPr/>
        </p:nvSpPr>
        <p:spPr>
          <a:xfrm>
            <a:off x="822960" y="22860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Layouts are built on 1–15 Nov and scored on 16–30 Nov. The split is chronological, the way a real warehouse re-slots on the past and lives with the future.</a:t>
            </a:r>
            <a:endParaRPr lang="en-US" sz="1700" dirty="0"/>
          </a:p>
        </p:txBody>
      </p:sp>
      <p:sp>
        <p:nvSpPr>
          <p:cNvPr id="8" name="card-Baseline is the target"/>
          <p:cNvSpPr/>
          <p:nvPr/>
        </p:nvSpPr>
        <p:spPr>
          <a:xfrm>
            <a:off x="6278728" y="1417320"/>
            <a:ext cx="5364328" cy="2194560"/>
          </a:xfrm>
          <a:prstGeom prst="roundRect">
            <a:avLst>
              <a:gd name="adj" fmla="val 5000"/>
            </a:avLst>
          </a:prstGeom>
          <a:solidFill>
            <a:schemeClr val="tx2"/>
          </a:solidFill>
          <a:ln w="9525">
            <a:solidFill>
              <a:schemeClr val="accent6"/>
            </a:solidFill>
            <a:prstDash val="solid"/>
          </a:ln>
        </p:spPr>
      </p:sp>
      <p:sp>
        <p:nvSpPr>
          <p:cNvPr id="9" name="Shape 7"/>
          <p:cNvSpPr/>
          <p:nvPr/>
        </p:nvSpPr>
        <p:spPr>
          <a:xfrm>
            <a:off x="6553048" y="169164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6553048"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7055968" y="1691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Baseline is the target</a:t>
            </a:r>
            <a:endParaRPr lang="en-US" sz="1900" dirty="0"/>
          </a:p>
        </p:txBody>
      </p:sp>
      <p:sp>
        <p:nvSpPr>
          <p:cNvPr id="12" name="Text 10"/>
          <p:cNvSpPr txBox="1"/>
          <p:nvPr/>
        </p:nvSpPr>
        <p:spPr>
          <a:xfrm>
            <a:off x="6553048" y="22860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The headline is the gain vs fast movers nearest the dock, ranked by train picks. Original (catalogue order) and Random (seed 42) are shown, but second.</a:t>
            </a:r>
            <a:endParaRPr lang="en-US" sz="1700" dirty="0"/>
          </a:p>
        </p:txBody>
      </p:sp>
      <p:sp>
        <p:nvSpPr>
          <p:cNvPr id="13" name="card-Exact routing, limits reported"/>
          <p:cNvSpPr/>
          <p:nvPr/>
        </p:nvSpPr>
        <p:spPr>
          <a:xfrm>
            <a:off x="548640" y="3931920"/>
            <a:ext cx="5364328" cy="2194560"/>
          </a:xfrm>
          <a:prstGeom prst="roundRect">
            <a:avLst>
              <a:gd name="adj" fmla="val 5000"/>
            </a:avLst>
          </a:prstGeom>
          <a:solidFill>
            <a:schemeClr val="tx2"/>
          </a:solidFill>
          <a:ln w="9525">
            <a:solidFill>
              <a:schemeClr val="accent6"/>
            </a:solidFill>
            <a:prstDash val="solid"/>
          </a:ln>
        </p:spPr>
      </p:sp>
      <p:sp>
        <p:nvSpPr>
          <p:cNvPr id="14" name="Shape 12"/>
          <p:cNvSpPr/>
          <p:nvPr/>
        </p:nvSpPr>
        <p:spPr>
          <a:xfrm>
            <a:off x="822960" y="420624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325880" y="42062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Exact routing, limits reported</a:t>
            </a:r>
            <a:endParaRPr lang="en-US" sz="1900" dirty="0"/>
          </a:p>
        </p:txBody>
      </p:sp>
      <p:sp>
        <p:nvSpPr>
          <p:cNvPr id="17" name="Text 15"/>
          <p:cNvSpPr txBox="1"/>
          <p:nvPr/>
        </p:nvSpPr>
        <p:spPr>
          <a:xfrm>
            <a:off x="822960" y="48006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Held–Karp up to 11 stops, NN + 2-opt above, flagged per order. The Evidence panel prints the exact share of metres.</a:t>
            </a:r>
            <a:endParaRPr lang="en-US" sz="1700" dirty="0"/>
          </a:p>
        </p:txBody>
      </p:sp>
      <p:sp>
        <p:nvSpPr>
          <p:cNvPr id="18" name="card-Deterministic, one simulator"/>
          <p:cNvSpPr/>
          <p:nvPr/>
        </p:nvSpPr>
        <p:spPr>
          <a:xfrm>
            <a:off x="6278728" y="3931920"/>
            <a:ext cx="5364328" cy="2194560"/>
          </a:xfrm>
          <a:prstGeom prst="roundRect">
            <a:avLst>
              <a:gd name="adj" fmla="val 5000"/>
            </a:avLst>
          </a:prstGeom>
          <a:solidFill>
            <a:schemeClr val="tx2"/>
          </a:solidFill>
          <a:ln w="9525">
            <a:solidFill>
              <a:schemeClr val="accent6"/>
            </a:solidFill>
            <a:prstDash val="solid"/>
          </a:ln>
        </p:spPr>
      </p:sp>
      <p:sp>
        <p:nvSpPr>
          <p:cNvPr id="19" name="Shape 17"/>
          <p:cNvSpPr/>
          <p:nvPr/>
        </p:nvSpPr>
        <p:spPr>
          <a:xfrm>
            <a:off x="6553048" y="4206240"/>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6553048" y="4206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055968" y="42062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Deterministic, one simulator</a:t>
            </a:r>
            <a:endParaRPr lang="en-US" sz="1900" dirty="0"/>
          </a:p>
        </p:txBody>
      </p:sp>
      <p:sp>
        <p:nvSpPr>
          <p:cNvPr id="22" name="Text 20"/>
          <p:cNvSpPr txBox="1"/>
          <p:nvPr/>
        </p:nvSpPr>
        <p:spPr>
          <a:xfrm>
            <a:off x="6553048" y="48006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No Math.random or Date.now in the engine; mulberry32 with the seed on screen. The worker, the 3D playback and npm run eval share one engine.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What we assumed, and what we did not build</a:t>
            </a:r>
            <a:endParaRPr lang="en-US" sz="3200" dirty="0"/>
          </a:p>
        </p:txBody>
      </p:sp>
      <p:sp>
        <p:nvSpPr>
          <p:cNvPr id="3" name="assumed"/>
          <p:cNvSpPr/>
          <p:nvPr/>
        </p:nvSpPr>
        <p:spPr>
          <a:xfrm>
            <a:off x="548640" y="1417320"/>
            <a:ext cx="5364328" cy="4343400"/>
          </a:xfrm>
          <a:prstGeom prst="roundRect">
            <a:avLst>
              <a:gd name="adj" fmla="val 2526"/>
            </a:avLst>
          </a:prstGeom>
          <a:solidFill>
            <a:schemeClr val="tx2"/>
          </a:solidFill>
          <a:ln w="9525">
            <a:solidFill>
              <a:schemeClr val="accent6"/>
            </a:solidFill>
            <a:prstDash val="solid"/>
          </a:ln>
        </p:spPr>
      </p:sp>
      <p:sp>
        <p:nvSpPr>
          <p:cNvPr id="4" name="Text 2"/>
          <p:cNvSpPr txBox="1"/>
          <p:nvPr/>
        </p:nvSpPr>
        <p:spPr>
          <a:xfrm>
            <a:off x="868680" y="1645920"/>
            <a:ext cx="4724248" cy="411480"/>
          </a:xfrm>
          <a:prstGeom prst="rect">
            <a:avLst/>
          </a:prstGeom>
          <a:noFill/>
          <a:ln/>
        </p:spPr>
        <p:txBody>
          <a:bodyPr wrap="square" lIns="0" tIns="0" rIns="0" bIns="0" rtlCol="0" anchor="t"/>
          <a:lstStyle/>
          <a:p>
            <a:pPr indent="0" marL="0">
              <a:buNone/>
            </a:pPr>
            <a:r>
              <a:rPr lang="en-US" sz="2000" b="1" dirty="0">
                <a:solidFill>
                  <a:schemeClr val="accent1"/>
                </a:solidFill>
                <a:latin typeface="Arial" pitchFamily="34" charset="0"/>
                <a:ea typeface="Arial" pitchFamily="34" charset="-122"/>
                <a:cs typeface="Arial" pitchFamily="34" charset="-120"/>
              </a:rPr>
              <a:t>Declared, not observed</a:t>
            </a:r>
            <a:endParaRPr lang="en-US" sz="2000" dirty="0"/>
          </a:p>
        </p:txBody>
      </p:sp>
      <p:sp>
        <p:nvSpPr>
          <p:cNvPr id="5" name="Text 3"/>
          <p:cNvSpPr txBox="1"/>
          <p:nvPr/>
        </p:nvSpPr>
        <p:spPr>
          <a:xfrm>
            <a:off x="868680" y="2240280"/>
            <a:ext cx="4724248"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The warehouse geometry is ours. The orders are real; the building is not.</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The time model is synthetic: metres / 1.2 m/s + 8 s per line. No acceleration, search or queueing.</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Only the top 100 SKUs are slotted. They cover 21.2 % of the month's lines, and other lines are left out.</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One retailer, one pre-Christmas month: gains may differ in other seasons or sectors.</a:t>
            </a:r>
            <a:endParaRPr lang="en-US" sz="1700" dirty="0"/>
          </a:p>
        </p:txBody>
      </p:sp>
      <p:sp>
        <p:nvSpPr>
          <p:cNvPr id="6" name="not-built"/>
          <p:cNvSpPr/>
          <p:nvPr/>
        </p:nvSpPr>
        <p:spPr>
          <a:xfrm>
            <a:off x="6278728" y="1417320"/>
            <a:ext cx="5364328" cy="4343400"/>
          </a:xfrm>
          <a:prstGeom prst="roundRect">
            <a:avLst>
              <a:gd name="adj" fmla="val 2526"/>
            </a:avLst>
          </a:prstGeom>
          <a:solidFill>
            <a:schemeClr val="tx2"/>
          </a:solidFill>
          <a:ln w="9525">
            <a:solidFill>
              <a:schemeClr val="accent6"/>
            </a:solidFill>
            <a:prstDash val="solid"/>
          </a:ln>
        </p:spPr>
      </p:sp>
      <p:sp>
        <p:nvSpPr>
          <p:cNvPr id="7" name="Text 5"/>
          <p:cNvSpPr txBox="1"/>
          <p:nvPr/>
        </p:nvSpPr>
        <p:spPr>
          <a:xfrm>
            <a:off x="6598768" y="1645920"/>
            <a:ext cx="4724248"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Not built (yet)</a:t>
            </a:r>
            <a:endParaRPr lang="en-US" sz="2000" dirty="0"/>
          </a:p>
        </p:txBody>
      </p:sp>
      <p:sp>
        <p:nvSpPr>
          <p:cNvPr id="8" name="Text 6"/>
          <p:cNvSpPr txBox="1"/>
          <p:nvPr/>
        </p:nvSpPr>
        <p:spPr>
          <a:xfrm>
            <a:off x="6598768" y="2240280"/>
            <a:ext cx="4724248"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Batch picking: one trip serving several orders.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Several pickers with congestion in narrow aisles.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Rack levels, carton sizes and weights.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Exact routing above 11 stops: those orders use a heuristic, and their share is reported.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Thank you. Questions?</a:t>
            </a:r>
            <a:endParaRPr lang="en-US" sz="3200" dirty="0"/>
          </a:p>
        </p:txBody>
      </p:sp>
      <p:sp>
        <p:nvSpPr>
          <p:cNvPr id="3" name="Text 1"/>
          <p:cNvSpPr txBox="1"/>
          <p:nvPr/>
        </p:nvSpPr>
        <p:spPr>
          <a:xfrm>
            <a:off x="548640" y="1508760"/>
            <a:ext cx="1280160" cy="41148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Repository</a:t>
            </a:r>
            <a:endParaRPr lang="en-US" sz="1500" dirty="0"/>
          </a:p>
        </p:txBody>
      </p:sp>
      <p:sp>
        <p:nvSpPr>
          <p:cNvPr id="4" name="Text 2"/>
          <p:cNvSpPr txBox="1"/>
          <p:nvPr/>
        </p:nvSpPr>
        <p:spPr>
          <a:xfrm>
            <a:off x="1874520" y="1508760"/>
            <a:ext cx="5440680" cy="411480"/>
          </a:xfrm>
          <a:prstGeom prst="rect">
            <a:avLst/>
          </a:prstGeom>
          <a:noFill/>
          <a:ln/>
        </p:spPr>
        <p:txBody>
          <a:bodyPr wrap="square" lIns="0" tIns="0" rIns="0" bIns="0" rtlCol="0" anchor="ctr"/>
          <a:lstStyle/>
          <a:p>
            <a:pPr indent="0" marL="0">
              <a:buNone/>
            </a:pPr>
            <a:r>
              <a:rPr lang="en-US" sz="1700" b="1" u="sng" dirty="0">
                <a:solidFill>
                  <a:schemeClr val="accent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github.com/Anandb71/ghostwalk</a:t>
            </a:r>
            <a:endParaRPr lang="en-US" sz="1700" dirty="0"/>
          </a:p>
        </p:txBody>
      </p:sp>
      <p:sp>
        <p:nvSpPr>
          <p:cNvPr id="5" name="Text 3"/>
          <p:cNvSpPr txBox="1"/>
          <p:nvPr/>
        </p:nvSpPr>
        <p:spPr>
          <a:xfrm>
            <a:off x="548640" y="2011680"/>
            <a:ext cx="1280160" cy="41148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Live app</a:t>
            </a:r>
            <a:endParaRPr lang="en-US" sz="1500" dirty="0"/>
          </a:p>
        </p:txBody>
      </p:sp>
      <p:sp>
        <p:nvSpPr>
          <p:cNvPr id="6" name="Text 4"/>
          <p:cNvSpPr txBox="1"/>
          <p:nvPr/>
        </p:nvSpPr>
        <p:spPr>
          <a:xfrm>
            <a:off x="1874520" y="2011680"/>
            <a:ext cx="54406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pending deploy</a:t>
            </a:r>
            <a:endParaRPr lang="en-US" sz="1700" dirty="0"/>
          </a:p>
        </p:txBody>
      </p:sp>
      <p:sp>
        <p:nvSpPr>
          <p:cNvPr id="7" name="team-Anand B"/>
          <p:cNvSpPr/>
          <p:nvPr/>
        </p:nvSpPr>
        <p:spPr>
          <a:xfrm>
            <a:off x="548640" y="3246120"/>
            <a:ext cx="3200400" cy="1783080"/>
          </a:xfrm>
          <a:prstGeom prst="roundRect">
            <a:avLst>
              <a:gd name="adj" fmla="val 6154"/>
            </a:avLst>
          </a:prstGeom>
          <a:solidFill>
            <a:schemeClr val="tx2"/>
          </a:solidFill>
          <a:ln w="9525">
            <a:solidFill>
              <a:schemeClr val="accent6"/>
            </a:solidFill>
            <a:prstDash val="solid"/>
          </a:ln>
        </p:spPr>
      </p:sp>
      <p:sp>
        <p:nvSpPr>
          <p:cNvPr id="8" name="Text 6"/>
          <p:cNvSpPr txBox="1"/>
          <p:nvPr/>
        </p:nvSpPr>
        <p:spPr>
          <a:xfrm>
            <a:off x="822960" y="3429000"/>
            <a:ext cx="2651760"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Anand B</a:t>
            </a:r>
            <a:endParaRPr lang="en-US" sz="2000" dirty="0"/>
          </a:p>
        </p:txBody>
      </p:sp>
      <p:sp>
        <p:nvSpPr>
          <p:cNvPr id="9" name="Text 7"/>
          <p:cNvSpPr txBox="1"/>
          <p:nvPr/>
        </p:nvSpPr>
        <p:spPr>
          <a:xfrm>
            <a:off x="822960" y="3840480"/>
            <a:ext cx="265176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@Anandb71</a:t>
            </a:r>
            <a:endParaRPr lang="en-US" sz="1400" dirty="0"/>
          </a:p>
        </p:txBody>
      </p:sp>
      <p:sp>
        <p:nvSpPr>
          <p:cNvPr id="10" name="Text 8"/>
          <p:cNvSpPr txBox="1"/>
          <p:nvPr/>
        </p:nvSpPr>
        <p:spPr>
          <a:xfrm>
            <a:off x="822960" y="4251960"/>
            <a:ext cx="2651760" cy="68580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engine, worker, 3D scene, core UI, integration and deploy</a:t>
            </a:r>
            <a:endParaRPr lang="en-US" sz="1400" dirty="0"/>
          </a:p>
        </p:txBody>
      </p:sp>
      <p:sp>
        <p:nvSpPr>
          <p:cNvPr id="11" name="team-Junaid Ahamed"/>
          <p:cNvSpPr/>
          <p:nvPr/>
        </p:nvSpPr>
        <p:spPr>
          <a:xfrm>
            <a:off x="4114800" y="3246120"/>
            <a:ext cx="3200400" cy="1783080"/>
          </a:xfrm>
          <a:prstGeom prst="roundRect">
            <a:avLst>
              <a:gd name="adj" fmla="val 6154"/>
            </a:avLst>
          </a:prstGeom>
          <a:solidFill>
            <a:schemeClr val="tx2"/>
          </a:solidFill>
          <a:ln w="9525">
            <a:solidFill>
              <a:schemeClr val="accent6"/>
            </a:solidFill>
            <a:prstDash val="solid"/>
          </a:ln>
        </p:spPr>
      </p:sp>
      <p:sp>
        <p:nvSpPr>
          <p:cNvPr id="12" name="Text 10"/>
          <p:cNvSpPr txBox="1"/>
          <p:nvPr/>
        </p:nvSpPr>
        <p:spPr>
          <a:xfrm>
            <a:off x="4389120" y="3429000"/>
            <a:ext cx="2651760"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Junaid Ahamed</a:t>
            </a:r>
            <a:endParaRPr lang="en-US" sz="2000" dirty="0"/>
          </a:p>
        </p:txBody>
      </p:sp>
      <p:sp>
        <p:nvSpPr>
          <p:cNvPr id="13" name="Text 11"/>
          <p:cNvSpPr txBox="1"/>
          <p:nvPr/>
        </p:nvSpPr>
        <p:spPr>
          <a:xfrm>
            <a:off x="4389120" y="3840480"/>
            <a:ext cx="265176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@JunaidAhamed-7777</a:t>
            </a:r>
            <a:endParaRPr lang="en-US" sz="1400" dirty="0"/>
          </a:p>
        </p:txBody>
      </p:sp>
      <p:sp>
        <p:nvSpPr>
          <p:cNvPr id="14" name="Text 12"/>
          <p:cNvSpPr txBox="1"/>
          <p:nvPr/>
        </p:nvSpPr>
        <p:spPr>
          <a:xfrm>
            <a:off x="4389120" y="4251960"/>
            <a:ext cx="2651760" cy="68580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leaderboard, README and docs, pitch deck, demo, posts</a:t>
            </a:r>
            <a:endParaRPr lang="en-US" sz="1400" dirty="0"/>
          </a:p>
        </p:txBody>
      </p:sp>
      <p:sp>
        <p:nvSpPr>
          <p:cNvPr id="15" name="Text 13"/>
          <p:cNvSpPr txBox="1"/>
          <p:nvPr/>
        </p:nvSpPr>
        <p:spPr>
          <a:xfrm>
            <a:off x="548640" y="5577840"/>
            <a:ext cx="6766560"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Built with Claude Code (Anthropic), declared in the README and DEV_LOG. Data: UCI Online Retail II, CC BY 4.0. Code: MIT.</a:t>
            </a:r>
            <a:endParaRPr lang="en-US" sz="1200" dirty="0"/>
          </a:p>
        </p:txBody>
      </p:sp>
      <p:sp>
        <p:nvSpPr>
          <p:cNvPr id="16" name="qr-panel"/>
          <p:cNvSpPr/>
          <p:nvPr/>
        </p:nvSpPr>
        <p:spPr>
          <a:xfrm>
            <a:off x="8351215" y="1463040"/>
            <a:ext cx="3291840" cy="3886200"/>
          </a:xfrm>
          <a:prstGeom prst="roundRect">
            <a:avLst>
              <a:gd name="adj" fmla="val 3333"/>
            </a:avLst>
          </a:prstGeom>
          <a:solidFill>
            <a:schemeClr val="accent5"/>
          </a:solidFill>
          <a:ln w="9525">
            <a:solidFill>
              <a:schemeClr val="accent6"/>
            </a:solidFill>
            <a:prstDash val="solid"/>
          </a:ln>
        </p:spPr>
      </p:sp>
      <p:pic>
        <p:nvPicPr>
          <p:cNvPr id="17" name="qr-repo" descr="QR code for https://github.com/Anandb71/ghostwalk">    </p:cNvPr>
          <p:cNvPicPr>
            <a:picLocks noChangeAspect="1"/>
          </p:cNvPicPr>
          <p:nvPr/>
        </p:nvPicPr>
        <p:blipFill>
          <a:blip r:embed="rId2"/>
          <a:stretch>
            <a:fillRect/>
          </a:stretch>
        </p:blipFill>
        <p:spPr>
          <a:xfrm>
            <a:off x="8488375" y="1600200"/>
            <a:ext cx="3017520" cy="3017520"/>
          </a:xfrm>
          <a:prstGeom prst="rect">
            <a:avLst/>
          </a:prstGeom>
        </p:spPr>
      </p:pic>
      <p:sp>
        <p:nvSpPr>
          <p:cNvPr id="18" name="Text 15"/>
          <p:cNvSpPr txBox="1"/>
          <p:nvPr/>
        </p:nvSpPr>
        <p:spPr>
          <a:xfrm>
            <a:off x="8351215" y="4754880"/>
            <a:ext cx="3291840" cy="4114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Scan for the repo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Ghostwalk">
  <a:themeElements>
    <a:clrScheme name="Ghostwalk">
      <a:dk1>
        <a:srgbClr val="0B0F17"/>
      </a:dk1>
      <a:lt1>
        <a:srgbClr val="E6EDF7"/>
      </a:lt1>
      <a:dk2>
        <a:srgbClr val="121826"/>
      </a:dk2>
      <a:lt2>
        <a:srgbClr val="8A97AD"/>
      </a:lt2>
      <a:accent1>
        <a:srgbClr val="FF7A1A"/>
      </a:accent1>
      <a:accent2>
        <a:srgbClr val="39D0FF"/>
      </a:accent2>
      <a:accent3>
        <a:srgbClr val="3DDC84"/>
      </a:accent3>
      <a:accent4>
        <a:srgbClr val="FF5470"/>
      </a:accent4>
      <a:accent5>
        <a:srgbClr val="1A2233"/>
      </a:accent5>
      <a:accent6>
        <a:srgbClr val="3B4D6B"/>
      </a:accent6>
      <a:hlink>
        <a:srgbClr val="39D0FF"/>
      </a:hlink>
      <a:folHlink>
        <a:srgbClr val="8A97AD"/>
      </a:folHlink>
    </a:clrScheme>
    <a:fontScheme name="Ghostwal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Ghostwalk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Ghostwalk: race your old warehouse</dc:title>
  <dc:subject>NexAI Hack 2026 · PS 4.2 · Warehouse Digital Twin</dc:subject>
  <dc:creator>Anand B, Junaid Ahamed</dc:creator>
  <cp:lastModifiedBy>Anand B, Junaid Ahamed</cp:lastModifiedBy>
  <cp:revision>1</cp:revision>
  <dcterms:created xsi:type="dcterms:W3CDTF">2026-10-22T05:09:19Z</dcterms:created>
  <dcterms:modified xsi:type="dcterms:W3CDTF">2026-10-22T05:09:19Z</dcterms:modified>
</cp:coreProperties>
</file>