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54f7f4bf-2504-dd7f-81ef-d7ee17f3c9f3}">
          <p14:sldIdLst>
            <p14:sldId id="256"/>
            <p14:sldId id="257"/>
            <p14:sldId id="258"/>
          </p14:sldIdLst>
        </p14:section>
        <p14:section name="Solution" id="{2baf3c19-d19d-31da-0801-3bdf2346172d}">
          <p14:sldIdLst>
            <p14:sldId id="259"/>
            <p14:sldId id="260"/>
            <p14:sldId id="261"/>
            <p14:sldId id="262"/>
            <p14:sldId id="263"/>
          </p14:sldIdLst>
        </p14:section>
        <p14:section name="Evidence" id="{6c2011a5-732b-9819-fc4b-b37209c61794}">
          <p14:sldIdLst>
            <p14:sldId id="264"/>
            <p14:sldId id="265"/>
            <p14:sldId id="266"/>
          </p14:sldIdLst>
        </p14:section>
        <p14:section name="Close" id="{4452cb72-1316-5064-cf60-720b0125ceb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7"/>
                </a:solidFill>
                <a:latin typeface="+mn-lt"/>
              </a:defRPr>
            </a:pPr>
            <a:r>
              <a:rPr sz="1400" b="0" i="0" u="none" strike="noStrike">
                <a:solidFill>
                  <a:srgbClr val="E6EDF7"/>
                </a:solidFill>
                <a:latin typeface="+mn-lt"/>
              </a:rPr>
              <a:t>Train km, seed 42, 30,000 iterations (from sa_seed42.json)</a:t>
            </a:r>
          </a:p>
        </c:rich>
      </c:tx>
      <c:layout/>
      <c:overlay val="0"/>
    </c:title>
    <c:autoTitleDeleted val="0"/>
    <c:plotArea>
      <c:layout/>
      <c:lineChart>
        <c:varyColors val="0"/>
        <c:ser>
          <c:idx val="0"/>
          <c:order val="0"/>
          <c:tx>
            <c:strRef>
              <c:f>Sheet1!$B$1</c:f>
              <c:strCache>
                <c:ptCount val="1"/>
                <c:pt idx="0">
                  <c:v>current</c:v>
                </c:pt>
              </c:strCache>
            </c:strRef>
          </c:tx>
          <c:spPr>
            <a:solidFill>
              <a:srgbClr val="8A97AD"/>
            </a:solidFill>
            <a:ln w="25400" cap="flat">
              <a:solidFill>
                <a:srgbClr val="8A97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7AD"/>
              </a:solidFill>
              <a:ln w="9525" cap="flat">
                <a:solidFill>
                  <a:srgbClr val="8A97AD"/>
                </a:solidFill>
                <a:prstDash val="solid"/>
                <a:round/>
              </a:ln>
              <a:effectLst/>
            </c:spPr>
          </c:marker>
          <c:cat>
            <c:multiLvlStrRef>
              <c:f>Sheet1!$A$2:$A$102</c:f>
              <c:multiLvlStrCache>
                <c:ptCount val="101"/>
                <c:lvl>
                  <c:pt idx="0">
                    <c:v>0</c:v>
                  </c:pt>
                  <c:pt idx="1">
                    <c:v>300</c:v>
                  </c:pt>
                  <c:pt idx="2">
                    <c:v>600</c:v>
                  </c:pt>
                  <c:pt idx="3">
                    <c:v>900</c:v>
                  </c:pt>
                  <c:pt idx="4">
                    <c:v>1,200</c:v>
                  </c:pt>
                  <c:pt idx="5">
                    <c:v>1,500</c:v>
                  </c:pt>
                  <c:pt idx="6">
                    <c:v>1,800</c:v>
                  </c:pt>
                  <c:pt idx="7">
                    <c:v>2,100</c:v>
                  </c:pt>
                  <c:pt idx="8">
                    <c:v>2,400</c:v>
                  </c:pt>
                  <c:pt idx="9">
                    <c:v>2,700</c:v>
                  </c:pt>
                  <c:pt idx="10">
                    <c:v>3,000</c:v>
                  </c:pt>
                  <c:pt idx="11">
                    <c:v>3,300</c:v>
                  </c:pt>
                  <c:pt idx="12">
                    <c:v>3,600</c:v>
                  </c:pt>
                  <c:pt idx="13">
                    <c:v>3,900</c:v>
                  </c:pt>
                  <c:pt idx="14">
                    <c:v>4,200</c:v>
                  </c:pt>
                  <c:pt idx="15">
                    <c:v>4,500</c:v>
                  </c:pt>
                  <c:pt idx="16">
                    <c:v>4,800</c:v>
                  </c:pt>
                  <c:pt idx="17">
                    <c:v>5,100</c:v>
                  </c:pt>
                  <c:pt idx="18">
                    <c:v>5,400</c:v>
                  </c:pt>
                  <c:pt idx="19">
                    <c:v>5,700</c:v>
                  </c:pt>
                  <c:pt idx="20">
                    <c:v>6,000</c:v>
                  </c:pt>
                  <c:pt idx="21">
                    <c:v>6,300</c:v>
                  </c:pt>
                  <c:pt idx="22">
                    <c:v>6,600</c:v>
                  </c:pt>
                  <c:pt idx="23">
                    <c:v>6,900</c:v>
                  </c:pt>
                  <c:pt idx="24">
                    <c:v>7,200</c:v>
                  </c:pt>
                  <c:pt idx="25">
                    <c:v>7,500</c:v>
                  </c:pt>
                  <c:pt idx="26">
                    <c:v>7,800</c:v>
                  </c:pt>
                  <c:pt idx="27">
                    <c:v>8,100</c:v>
                  </c:pt>
                  <c:pt idx="28">
                    <c:v>8,400</c:v>
                  </c:pt>
                  <c:pt idx="29">
                    <c:v>8,700</c:v>
                  </c:pt>
                  <c:pt idx="30">
                    <c:v>9,000</c:v>
                  </c:pt>
                  <c:pt idx="31">
                    <c:v>9,300</c:v>
                  </c:pt>
                  <c:pt idx="32">
                    <c:v>9,600</c:v>
                  </c:pt>
                  <c:pt idx="33">
                    <c:v>9,900</c:v>
                  </c:pt>
                  <c:pt idx="34">
                    <c:v>10,200</c:v>
                  </c:pt>
                  <c:pt idx="35">
                    <c:v>10,500</c:v>
                  </c:pt>
                  <c:pt idx="36">
                    <c:v>10,800</c:v>
                  </c:pt>
                  <c:pt idx="37">
                    <c:v>11,100</c:v>
                  </c:pt>
                  <c:pt idx="38">
                    <c:v>11,400</c:v>
                  </c:pt>
                  <c:pt idx="39">
                    <c:v>11,700</c:v>
                  </c:pt>
                  <c:pt idx="40">
                    <c:v>12,000</c:v>
                  </c:pt>
                  <c:pt idx="41">
                    <c:v>12,300</c:v>
                  </c:pt>
                  <c:pt idx="42">
                    <c:v>12,600</c:v>
                  </c:pt>
                  <c:pt idx="43">
                    <c:v>12,900</c:v>
                  </c:pt>
                  <c:pt idx="44">
                    <c:v>13,200</c:v>
                  </c:pt>
                  <c:pt idx="45">
                    <c:v>13,500</c:v>
                  </c:pt>
                  <c:pt idx="46">
                    <c:v>13,800</c:v>
                  </c:pt>
                  <c:pt idx="47">
                    <c:v>14,100</c:v>
                  </c:pt>
                  <c:pt idx="48">
                    <c:v>14,400</c:v>
                  </c:pt>
                  <c:pt idx="49">
                    <c:v>14,700</c:v>
                  </c:pt>
                  <c:pt idx="50">
                    <c:v>15,000</c:v>
                  </c:pt>
                  <c:pt idx="51">
                    <c:v>15,300</c:v>
                  </c:pt>
                  <c:pt idx="52">
                    <c:v>15,600</c:v>
                  </c:pt>
                  <c:pt idx="53">
                    <c:v>15,900</c:v>
                  </c:pt>
                  <c:pt idx="54">
                    <c:v>16,200</c:v>
                  </c:pt>
                  <c:pt idx="55">
                    <c:v>16,500</c:v>
                  </c:pt>
                  <c:pt idx="56">
                    <c:v>16,800</c:v>
                  </c:pt>
                  <c:pt idx="57">
                    <c:v>17,100</c:v>
                  </c:pt>
                  <c:pt idx="58">
                    <c:v>17,400</c:v>
                  </c:pt>
                  <c:pt idx="59">
                    <c:v>17,700</c:v>
                  </c:pt>
                  <c:pt idx="60">
                    <c:v>18,000</c:v>
                  </c:pt>
                  <c:pt idx="61">
                    <c:v>18,300</c:v>
                  </c:pt>
                  <c:pt idx="62">
                    <c:v>18,600</c:v>
                  </c:pt>
                  <c:pt idx="63">
                    <c:v>18,900</c:v>
                  </c:pt>
                  <c:pt idx="64">
                    <c:v>19,200</c:v>
                  </c:pt>
                  <c:pt idx="65">
                    <c:v>19,500</c:v>
                  </c:pt>
                  <c:pt idx="66">
                    <c:v>19,800</c:v>
                  </c:pt>
                  <c:pt idx="67">
                    <c:v>20,100</c:v>
                  </c:pt>
                  <c:pt idx="68">
                    <c:v>20,400</c:v>
                  </c:pt>
                  <c:pt idx="69">
                    <c:v>20,700</c:v>
                  </c:pt>
                  <c:pt idx="70">
                    <c:v>21,000</c:v>
                  </c:pt>
                  <c:pt idx="71">
                    <c:v>21,300</c:v>
                  </c:pt>
                  <c:pt idx="72">
                    <c:v>21,600</c:v>
                  </c:pt>
                  <c:pt idx="73">
                    <c:v>21,900</c:v>
                  </c:pt>
                  <c:pt idx="74">
                    <c:v>22,200</c:v>
                  </c:pt>
                  <c:pt idx="75">
                    <c:v>22,500</c:v>
                  </c:pt>
                  <c:pt idx="76">
                    <c:v>22,800</c:v>
                  </c:pt>
                  <c:pt idx="77">
                    <c:v>23,100</c:v>
                  </c:pt>
                  <c:pt idx="78">
                    <c:v>23,400</c:v>
                  </c:pt>
                  <c:pt idx="79">
                    <c:v>23,700</c:v>
                  </c:pt>
                  <c:pt idx="80">
                    <c:v>24,000</c:v>
                  </c:pt>
                  <c:pt idx="81">
                    <c:v>24,300</c:v>
                  </c:pt>
                  <c:pt idx="82">
                    <c:v>24,600</c:v>
                  </c:pt>
                  <c:pt idx="83">
                    <c:v>24,900</c:v>
                  </c:pt>
                  <c:pt idx="84">
                    <c:v>25,200</c:v>
                  </c:pt>
                  <c:pt idx="85">
                    <c:v>25,500</c:v>
                  </c:pt>
                  <c:pt idx="86">
                    <c:v>25,800</c:v>
                  </c:pt>
                  <c:pt idx="87">
                    <c:v>26,100</c:v>
                  </c:pt>
                  <c:pt idx="88">
                    <c:v>26,400</c:v>
                  </c:pt>
                  <c:pt idx="89">
                    <c:v>26,700</c:v>
                  </c:pt>
                  <c:pt idx="90">
                    <c:v>27,000</c:v>
                  </c:pt>
                  <c:pt idx="91">
                    <c:v>27,300</c:v>
                  </c:pt>
                  <c:pt idx="92">
                    <c:v>27,600</c:v>
                  </c:pt>
                  <c:pt idx="93">
                    <c:v>27,900</c:v>
                  </c:pt>
                  <c:pt idx="94">
                    <c:v>28,200</c:v>
                  </c:pt>
                  <c:pt idx="95">
                    <c:v>28,500</c:v>
                  </c:pt>
                  <c:pt idx="96">
                    <c:v>28,800</c:v>
                  </c:pt>
                  <c:pt idx="97">
                    <c:v>29,100</c:v>
                  </c:pt>
                  <c:pt idx="98">
                    <c:v>29,400</c:v>
                  </c:pt>
                  <c:pt idx="99">
                    <c:v>29,700</c:v>
                  </c:pt>
                  <c:pt idx="100">
                    <c:v>30,000</c:v>
                  </c:pt>
                </c:lvl>
              </c:multiLvlStrCache>
            </c:multiLvlStrRef>
          </c:cat>
          <c:val>
            <c:numRef>
              <c:f>Sheet1!$B$2:$B$102</c:f>
              <c:numCache>
                <c:formatCode>General</c:formatCode>
                <c:ptCount val="101"/>
                <c:pt idx="0">
                  <c:v>92.518</c:v>
                </c:pt>
                <c:pt idx="1">
                  <c:v>91.107</c:v>
                </c:pt>
                <c:pt idx="2">
                  <c:v>91.971</c:v>
                </c:pt>
                <c:pt idx="3">
                  <c:v>90.788</c:v>
                </c:pt>
                <c:pt idx="4">
                  <c:v>90.876</c:v>
                </c:pt>
                <c:pt idx="5">
                  <c:v>90.306</c:v>
                </c:pt>
                <c:pt idx="6">
                  <c:v>89.059</c:v>
                </c:pt>
                <c:pt idx="7">
                  <c:v>89.502</c:v>
                </c:pt>
                <c:pt idx="8">
                  <c:v>89.776</c:v>
                </c:pt>
                <c:pt idx="9">
                  <c:v>87.851</c:v>
                </c:pt>
                <c:pt idx="10">
                  <c:v>88.265</c:v>
                </c:pt>
                <c:pt idx="11">
                  <c:v>87.291</c:v>
                </c:pt>
                <c:pt idx="12">
                  <c:v>86.903</c:v>
                </c:pt>
                <c:pt idx="13">
                  <c:v>86.828</c:v>
                </c:pt>
                <c:pt idx="14">
                  <c:v>87.036</c:v>
                </c:pt>
                <c:pt idx="15">
                  <c:v>86.892</c:v>
                </c:pt>
                <c:pt idx="16">
                  <c:v>85.638</c:v>
                </c:pt>
                <c:pt idx="17">
                  <c:v>85.182</c:v>
                </c:pt>
                <c:pt idx="18">
                  <c:v>84.719</c:v>
                </c:pt>
                <c:pt idx="19">
                  <c:v>84.276</c:v>
                </c:pt>
                <c:pt idx="20">
                  <c:v>83.994</c:v>
                </c:pt>
                <c:pt idx="21">
                  <c:v>83.434</c:v>
                </c:pt>
                <c:pt idx="22">
                  <c:v>83.244</c:v>
                </c:pt>
                <c:pt idx="23">
                  <c:v>82.869</c:v>
                </c:pt>
                <c:pt idx="24">
                  <c:v>82.62</c:v>
                </c:pt>
                <c:pt idx="25">
                  <c:v>82.535</c:v>
                </c:pt>
                <c:pt idx="26">
                  <c:v>82.188</c:v>
                </c:pt>
                <c:pt idx="27">
                  <c:v>82.251</c:v>
                </c:pt>
                <c:pt idx="28">
                  <c:v>81.888</c:v>
                </c:pt>
                <c:pt idx="29">
                  <c:v>81.678</c:v>
                </c:pt>
                <c:pt idx="30">
                  <c:v>81.541</c:v>
                </c:pt>
                <c:pt idx="31">
                  <c:v>81.372</c:v>
                </c:pt>
                <c:pt idx="32">
                  <c:v>81.25</c:v>
                </c:pt>
                <c:pt idx="33">
                  <c:v>81.362</c:v>
                </c:pt>
                <c:pt idx="34">
                  <c:v>81.224</c:v>
                </c:pt>
                <c:pt idx="35">
                  <c:v>81.173</c:v>
                </c:pt>
                <c:pt idx="36">
                  <c:v>81.188</c:v>
                </c:pt>
                <c:pt idx="37">
                  <c:v>81.105</c:v>
                </c:pt>
                <c:pt idx="38">
                  <c:v>80.926</c:v>
                </c:pt>
                <c:pt idx="39">
                  <c:v>80.9</c:v>
                </c:pt>
                <c:pt idx="40">
                  <c:v>80.783</c:v>
                </c:pt>
                <c:pt idx="41">
                  <c:v>80.694</c:v>
                </c:pt>
                <c:pt idx="42">
                  <c:v>80.65</c:v>
                </c:pt>
                <c:pt idx="43">
                  <c:v>80.456</c:v>
                </c:pt>
                <c:pt idx="44">
                  <c:v>80.403</c:v>
                </c:pt>
                <c:pt idx="45">
                  <c:v>80.42</c:v>
                </c:pt>
                <c:pt idx="46">
                  <c:v>80.393</c:v>
                </c:pt>
                <c:pt idx="47">
                  <c:v>80.369</c:v>
                </c:pt>
                <c:pt idx="48">
                  <c:v>80.374</c:v>
                </c:pt>
                <c:pt idx="49">
                  <c:v>80.364</c:v>
                </c:pt>
                <c:pt idx="50">
                  <c:v>80.356</c:v>
                </c:pt>
                <c:pt idx="51">
                  <c:v>80.318</c:v>
                </c:pt>
                <c:pt idx="52">
                  <c:v>80.28</c:v>
                </c:pt>
                <c:pt idx="53">
                  <c:v>80.262</c:v>
                </c:pt>
                <c:pt idx="54">
                  <c:v>80.244</c:v>
                </c:pt>
                <c:pt idx="55">
                  <c:v>80.225</c:v>
                </c:pt>
                <c:pt idx="56">
                  <c:v>80.2</c:v>
                </c:pt>
                <c:pt idx="57">
                  <c:v>80.139</c:v>
                </c:pt>
                <c:pt idx="58">
                  <c:v>80.141</c:v>
                </c:pt>
                <c:pt idx="59">
                  <c:v>80.141</c:v>
                </c:pt>
                <c:pt idx="60">
                  <c:v>80.13</c:v>
                </c:pt>
                <c:pt idx="61">
                  <c:v>80.125</c:v>
                </c:pt>
                <c:pt idx="62">
                  <c:v>80.099</c:v>
                </c:pt>
                <c:pt idx="63">
                  <c:v>80.064</c:v>
                </c:pt>
                <c:pt idx="64">
                  <c:v>80.064</c:v>
                </c:pt>
                <c:pt idx="65">
                  <c:v>80.064</c:v>
                </c:pt>
                <c:pt idx="66">
                  <c:v>80.06</c:v>
                </c:pt>
                <c:pt idx="67">
                  <c:v>80.059</c:v>
                </c:pt>
                <c:pt idx="68">
                  <c:v>80.041</c:v>
                </c:pt>
                <c:pt idx="69">
                  <c:v>80.031</c:v>
                </c:pt>
                <c:pt idx="70">
                  <c:v>80.034</c:v>
                </c:pt>
                <c:pt idx="71">
                  <c:v>80.017</c:v>
                </c:pt>
                <c:pt idx="72">
                  <c:v>80.008</c:v>
                </c:pt>
                <c:pt idx="73">
                  <c:v>80.008</c:v>
                </c:pt>
                <c:pt idx="74">
                  <c:v>79.989</c:v>
                </c:pt>
                <c:pt idx="75">
                  <c:v>79.989</c:v>
                </c:pt>
                <c:pt idx="76">
                  <c:v>79.986</c:v>
                </c:pt>
                <c:pt idx="77">
                  <c:v>79.979</c:v>
                </c:pt>
                <c:pt idx="78">
                  <c:v>79.969</c:v>
                </c:pt>
                <c:pt idx="79">
                  <c:v>79.966</c:v>
                </c:pt>
                <c:pt idx="80">
                  <c:v>79.966</c:v>
                </c:pt>
                <c:pt idx="81">
                  <c:v>79.959</c:v>
                </c:pt>
                <c:pt idx="82">
                  <c:v>79.959</c:v>
                </c:pt>
                <c:pt idx="83">
                  <c:v>79.948</c:v>
                </c:pt>
                <c:pt idx="84">
                  <c:v>79.94</c:v>
                </c:pt>
                <c:pt idx="85">
                  <c:v>79.94</c:v>
                </c:pt>
                <c:pt idx="86">
                  <c:v>79.94</c:v>
                </c:pt>
                <c:pt idx="87">
                  <c:v>79.937</c:v>
                </c:pt>
                <c:pt idx="88">
                  <c:v>79.937</c:v>
                </c:pt>
                <c:pt idx="89">
                  <c:v>79.937</c:v>
                </c:pt>
                <c:pt idx="90">
                  <c:v>79.937</c:v>
                </c:pt>
                <c:pt idx="91">
                  <c:v>79.937</c:v>
                </c:pt>
                <c:pt idx="92">
                  <c:v>79.937</c:v>
                </c:pt>
                <c:pt idx="93">
                  <c:v>79.937</c:v>
                </c:pt>
                <c:pt idx="94">
                  <c:v>79.937</c:v>
                </c:pt>
                <c:pt idx="95">
                  <c:v>79.937</c:v>
                </c:pt>
                <c:pt idx="96">
                  <c:v>79.937</c:v>
                </c:pt>
                <c:pt idx="97">
                  <c:v>79.937</c:v>
                </c:pt>
                <c:pt idx="98">
                  <c:v>79.937</c:v>
                </c:pt>
                <c:pt idx="99">
                  <c:v>79.937</c:v>
                </c:pt>
                <c:pt idx="100">
                  <c:v>79.937</c:v>
                </c:pt>
              </c:numCache>
            </c:numRef>
          </c:val>
          <c:smooth val="0"/>
        </c:ser>
        <c:ser>
          <c:idx val="1"/>
          <c:order val="1"/>
          <c:tx>
            <c:strRef>
              <c:f>Sheet1!$C$1</c:f>
              <c:strCache>
                <c:ptCount val="1"/>
                <c:pt idx="0">
                  <c:v>best so far</c:v>
                </c:pt>
              </c:strCache>
            </c:strRef>
          </c:tx>
          <c:spPr>
            <a:solidFill>
              <a:srgbClr val="FF7A1A"/>
            </a:solidFill>
            <a:ln w="25400" cap="flat">
              <a:solidFill>
                <a:srgbClr val="FF7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7A1A"/>
              </a:solidFill>
              <a:ln w="9525" cap="flat">
                <a:solidFill>
                  <a:srgbClr val="FF7A1A"/>
                </a:solidFill>
                <a:prstDash val="solid"/>
                <a:round/>
              </a:ln>
              <a:effectLst/>
            </c:spPr>
          </c:marker>
          <c:cat>
            <c:multiLvlStrRef>
              <c:f>Sheet1!$A$2:$A$102</c:f>
              <c:multiLvlStrCache>
                <c:ptCount val="101"/>
                <c:lvl>
                  <c:pt idx="0">
                    <c:v>0</c:v>
                  </c:pt>
                  <c:pt idx="1">
                    <c:v>300</c:v>
                  </c:pt>
                  <c:pt idx="2">
                    <c:v>600</c:v>
                  </c:pt>
                  <c:pt idx="3">
                    <c:v>900</c:v>
                  </c:pt>
                  <c:pt idx="4">
                    <c:v>1,200</c:v>
                  </c:pt>
                  <c:pt idx="5">
                    <c:v>1,500</c:v>
                  </c:pt>
                  <c:pt idx="6">
                    <c:v>1,800</c:v>
                  </c:pt>
                  <c:pt idx="7">
                    <c:v>2,100</c:v>
                  </c:pt>
                  <c:pt idx="8">
                    <c:v>2,400</c:v>
                  </c:pt>
                  <c:pt idx="9">
                    <c:v>2,700</c:v>
                  </c:pt>
                  <c:pt idx="10">
                    <c:v>3,000</c:v>
                  </c:pt>
                  <c:pt idx="11">
                    <c:v>3,300</c:v>
                  </c:pt>
                  <c:pt idx="12">
                    <c:v>3,600</c:v>
                  </c:pt>
                  <c:pt idx="13">
                    <c:v>3,900</c:v>
                  </c:pt>
                  <c:pt idx="14">
                    <c:v>4,200</c:v>
                  </c:pt>
                  <c:pt idx="15">
                    <c:v>4,500</c:v>
                  </c:pt>
                  <c:pt idx="16">
                    <c:v>4,800</c:v>
                  </c:pt>
                  <c:pt idx="17">
                    <c:v>5,100</c:v>
                  </c:pt>
                  <c:pt idx="18">
                    <c:v>5,400</c:v>
                  </c:pt>
                  <c:pt idx="19">
                    <c:v>5,700</c:v>
                  </c:pt>
                  <c:pt idx="20">
                    <c:v>6,000</c:v>
                  </c:pt>
                  <c:pt idx="21">
                    <c:v>6,300</c:v>
                  </c:pt>
                  <c:pt idx="22">
                    <c:v>6,600</c:v>
                  </c:pt>
                  <c:pt idx="23">
                    <c:v>6,900</c:v>
                  </c:pt>
                  <c:pt idx="24">
                    <c:v>7,200</c:v>
                  </c:pt>
                  <c:pt idx="25">
                    <c:v>7,500</c:v>
                  </c:pt>
                  <c:pt idx="26">
                    <c:v>7,800</c:v>
                  </c:pt>
                  <c:pt idx="27">
                    <c:v>8,100</c:v>
                  </c:pt>
                  <c:pt idx="28">
                    <c:v>8,400</c:v>
                  </c:pt>
                  <c:pt idx="29">
                    <c:v>8,700</c:v>
                  </c:pt>
                  <c:pt idx="30">
                    <c:v>9,000</c:v>
                  </c:pt>
                  <c:pt idx="31">
                    <c:v>9,300</c:v>
                  </c:pt>
                  <c:pt idx="32">
                    <c:v>9,600</c:v>
                  </c:pt>
                  <c:pt idx="33">
                    <c:v>9,900</c:v>
                  </c:pt>
                  <c:pt idx="34">
                    <c:v>10,200</c:v>
                  </c:pt>
                  <c:pt idx="35">
                    <c:v>10,500</c:v>
                  </c:pt>
                  <c:pt idx="36">
                    <c:v>10,800</c:v>
                  </c:pt>
                  <c:pt idx="37">
                    <c:v>11,100</c:v>
                  </c:pt>
                  <c:pt idx="38">
                    <c:v>11,400</c:v>
                  </c:pt>
                  <c:pt idx="39">
                    <c:v>11,700</c:v>
                  </c:pt>
                  <c:pt idx="40">
                    <c:v>12,000</c:v>
                  </c:pt>
                  <c:pt idx="41">
                    <c:v>12,300</c:v>
                  </c:pt>
                  <c:pt idx="42">
                    <c:v>12,600</c:v>
                  </c:pt>
                  <c:pt idx="43">
                    <c:v>12,900</c:v>
                  </c:pt>
                  <c:pt idx="44">
                    <c:v>13,200</c:v>
                  </c:pt>
                  <c:pt idx="45">
                    <c:v>13,500</c:v>
                  </c:pt>
                  <c:pt idx="46">
                    <c:v>13,800</c:v>
                  </c:pt>
                  <c:pt idx="47">
                    <c:v>14,100</c:v>
                  </c:pt>
                  <c:pt idx="48">
                    <c:v>14,400</c:v>
                  </c:pt>
                  <c:pt idx="49">
                    <c:v>14,700</c:v>
                  </c:pt>
                  <c:pt idx="50">
                    <c:v>15,000</c:v>
                  </c:pt>
                  <c:pt idx="51">
                    <c:v>15,300</c:v>
                  </c:pt>
                  <c:pt idx="52">
                    <c:v>15,600</c:v>
                  </c:pt>
                  <c:pt idx="53">
                    <c:v>15,900</c:v>
                  </c:pt>
                  <c:pt idx="54">
                    <c:v>16,200</c:v>
                  </c:pt>
                  <c:pt idx="55">
                    <c:v>16,500</c:v>
                  </c:pt>
                  <c:pt idx="56">
                    <c:v>16,800</c:v>
                  </c:pt>
                  <c:pt idx="57">
                    <c:v>17,100</c:v>
                  </c:pt>
                  <c:pt idx="58">
                    <c:v>17,400</c:v>
                  </c:pt>
                  <c:pt idx="59">
                    <c:v>17,700</c:v>
                  </c:pt>
                  <c:pt idx="60">
                    <c:v>18,000</c:v>
                  </c:pt>
                  <c:pt idx="61">
                    <c:v>18,300</c:v>
                  </c:pt>
                  <c:pt idx="62">
                    <c:v>18,600</c:v>
                  </c:pt>
                  <c:pt idx="63">
                    <c:v>18,900</c:v>
                  </c:pt>
                  <c:pt idx="64">
                    <c:v>19,200</c:v>
                  </c:pt>
                  <c:pt idx="65">
                    <c:v>19,500</c:v>
                  </c:pt>
                  <c:pt idx="66">
                    <c:v>19,800</c:v>
                  </c:pt>
                  <c:pt idx="67">
                    <c:v>20,100</c:v>
                  </c:pt>
                  <c:pt idx="68">
                    <c:v>20,400</c:v>
                  </c:pt>
                  <c:pt idx="69">
                    <c:v>20,700</c:v>
                  </c:pt>
                  <c:pt idx="70">
                    <c:v>21,000</c:v>
                  </c:pt>
                  <c:pt idx="71">
                    <c:v>21,300</c:v>
                  </c:pt>
                  <c:pt idx="72">
                    <c:v>21,600</c:v>
                  </c:pt>
                  <c:pt idx="73">
                    <c:v>21,900</c:v>
                  </c:pt>
                  <c:pt idx="74">
                    <c:v>22,200</c:v>
                  </c:pt>
                  <c:pt idx="75">
                    <c:v>22,500</c:v>
                  </c:pt>
                  <c:pt idx="76">
                    <c:v>22,800</c:v>
                  </c:pt>
                  <c:pt idx="77">
                    <c:v>23,100</c:v>
                  </c:pt>
                  <c:pt idx="78">
                    <c:v>23,400</c:v>
                  </c:pt>
                  <c:pt idx="79">
                    <c:v>23,700</c:v>
                  </c:pt>
                  <c:pt idx="80">
                    <c:v>24,000</c:v>
                  </c:pt>
                  <c:pt idx="81">
                    <c:v>24,300</c:v>
                  </c:pt>
                  <c:pt idx="82">
                    <c:v>24,600</c:v>
                  </c:pt>
                  <c:pt idx="83">
                    <c:v>24,900</c:v>
                  </c:pt>
                  <c:pt idx="84">
                    <c:v>25,200</c:v>
                  </c:pt>
                  <c:pt idx="85">
                    <c:v>25,500</c:v>
                  </c:pt>
                  <c:pt idx="86">
                    <c:v>25,800</c:v>
                  </c:pt>
                  <c:pt idx="87">
                    <c:v>26,100</c:v>
                  </c:pt>
                  <c:pt idx="88">
                    <c:v>26,400</c:v>
                  </c:pt>
                  <c:pt idx="89">
                    <c:v>26,700</c:v>
                  </c:pt>
                  <c:pt idx="90">
                    <c:v>27,000</c:v>
                  </c:pt>
                  <c:pt idx="91">
                    <c:v>27,300</c:v>
                  </c:pt>
                  <c:pt idx="92">
                    <c:v>27,600</c:v>
                  </c:pt>
                  <c:pt idx="93">
                    <c:v>27,900</c:v>
                  </c:pt>
                  <c:pt idx="94">
                    <c:v>28,200</c:v>
                  </c:pt>
                  <c:pt idx="95">
                    <c:v>28,500</c:v>
                  </c:pt>
                  <c:pt idx="96">
                    <c:v>28,800</c:v>
                  </c:pt>
                  <c:pt idx="97">
                    <c:v>29,100</c:v>
                  </c:pt>
                  <c:pt idx="98">
                    <c:v>29,400</c:v>
                  </c:pt>
                  <c:pt idx="99">
                    <c:v>29,700</c:v>
                  </c:pt>
                  <c:pt idx="100">
                    <c:v>30,000</c:v>
                  </c:pt>
                </c:lvl>
              </c:multiLvlStrCache>
            </c:multiLvlStrRef>
          </c:cat>
          <c:val>
            <c:numRef>
              <c:f>Sheet1!$C$2:$C$102</c:f>
              <c:numCache>
                <c:formatCode>General</c:formatCode>
                <c:ptCount val="101"/>
                <c:pt idx="0">
                  <c:v>92.518</c:v>
                </c:pt>
                <c:pt idx="1">
                  <c:v>90.494</c:v>
                </c:pt>
                <c:pt idx="2">
                  <c:v>90.494</c:v>
                </c:pt>
                <c:pt idx="3">
                  <c:v>90.494</c:v>
                </c:pt>
                <c:pt idx="4">
                  <c:v>89.37</c:v>
                </c:pt>
                <c:pt idx="5">
                  <c:v>89.37</c:v>
                </c:pt>
                <c:pt idx="6">
                  <c:v>88.408</c:v>
                </c:pt>
                <c:pt idx="7">
                  <c:v>87.784</c:v>
                </c:pt>
                <c:pt idx="8">
                  <c:v>87.784</c:v>
                </c:pt>
                <c:pt idx="9">
                  <c:v>87.784</c:v>
                </c:pt>
                <c:pt idx="10">
                  <c:v>87.574</c:v>
                </c:pt>
                <c:pt idx="11">
                  <c:v>87.22</c:v>
                </c:pt>
                <c:pt idx="12">
                  <c:v>86.815</c:v>
                </c:pt>
                <c:pt idx="13">
                  <c:v>86.603</c:v>
                </c:pt>
                <c:pt idx="14">
                  <c:v>86.603</c:v>
                </c:pt>
                <c:pt idx="15">
                  <c:v>86.603</c:v>
                </c:pt>
                <c:pt idx="16">
                  <c:v>85.567</c:v>
                </c:pt>
                <c:pt idx="17">
                  <c:v>85.154</c:v>
                </c:pt>
                <c:pt idx="18">
                  <c:v>84.591</c:v>
                </c:pt>
                <c:pt idx="19">
                  <c:v>84.273</c:v>
                </c:pt>
                <c:pt idx="20">
                  <c:v>83.981</c:v>
                </c:pt>
                <c:pt idx="21">
                  <c:v>83.337</c:v>
                </c:pt>
                <c:pt idx="22">
                  <c:v>83.136</c:v>
                </c:pt>
                <c:pt idx="23">
                  <c:v>82.869</c:v>
                </c:pt>
                <c:pt idx="24">
                  <c:v>82.606</c:v>
                </c:pt>
                <c:pt idx="25">
                  <c:v>82.47</c:v>
                </c:pt>
                <c:pt idx="26">
                  <c:v>82.188</c:v>
                </c:pt>
                <c:pt idx="27">
                  <c:v>82.13</c:v>
                </c:pt>
                <c:pt idx="28">
                  <c:v>81.888</c:v>
                </c:pt>
                <c:pt idx="29">
                  <c:v>81.678</c:v>
                </c:pt>
                <c:pt idx="30">
                  <c:v>81.541</c:v>
                </c:pt>
                <c:pt idx="31">
                  <c:v>81.372</c:v>
                </c:pt>
                <c:pt idx="32">
                  <c:v>81.22</c:v>
                </c:pt>
                <c:pt idx="33">
                  <c:v>81.22</c:v>
                </c:pt>
                <c:pt idx="34">
                  <c:v>81.215</c:v>
                </c:pt>
                <c:pt idx="35">
                  <c:v>81.164</c:v>
                </c:pt>
                <c:pt idx="36">
                  <c:v>81.164</c:v>
                </c:pt>
                <c:pt idx="37">
                  <c:v>81.088</c:v>
                </c:pt>
                <c:pt idx="38">
                  <c:v>80.901</c:v>
                </c:pt>
                <c:pt idx="39">
                  <c:v>80.9</c:v>
                </c:pt>
                <c:pt idx="40">
                  <c:v>80.783</c:v>
                </c:pt>
                <c:pt idx="41">
                  <c:v>80.682</c:v>
                </c:pt>
                <c:pt idx="42">
                  <c:v>80.65</c:v>
                </c:pt>
                <c:pt idx="43">
                  <c:v>80.456</c:v>
                </c:pt>
                <c:pt idx="44">
                  <c:v>80.403</c:v>
                </c:pt>
                <c:pt idx="45">
                  <c:v>80.403</c:v>
                </c:pt>
                <c:pt idx="46">
                  <c:v>80.393</c:v>
                </c:pt>
                <c:pt idx="47">
                  <c:v>80.357</c:v>
                </c:pt>
                <c:pt idx="48">
                  <c:v>80.357</c:v>
                </c:pt>
                <c:pt idx="49">
                  <c:v>80.357</c:v>
                </c:pt>
                <c:pt idx="50">
                  <c:v>80.356</c:v>
                </c:pt>
                <c:pt idx="51">
                  <c:v>80.304</c:v>
                </c:pt>
                <c:pt idx="52">
                  <c:v>80.28</c:v>
                </c:pt>
                <c:pt idx="53">
                  <c:v>80.252</c:v>
                </c:pt>
                <c:pt idx="54">
                  <c:v>80.244</c:v>
                </c:pt>
                <c:pt idx="55">
                  <c:v>80.225</c:v>
                </c:pt>
                <c:pt idx="56">
                  <c:v>80.2</c:v>
                </c:pt>
                <c:pt idx="57">
                  <c:v>80.139</c:v>
                </c:pt>
                <c:pt idx="58">
                  <c:v>80.139</c:v>
                </c:pt>
                <c:pt idx="59">
                  <c:v>80.139</c:v>
                </c:pt>
                <c:pt idx="60">
                  <c:v>80.13</c:v>
                </c:pt>
                <c:pt idx="61">
                  <c:v>80.125</c:v>
                </c:pt>
                <c:pt idx="62">
                  <c:v>80.096</c:v>
                </c:pt>
                <c:pt idx="63">
                  <c:v>80.064</c:v>
                </c:pt>
                <c:pt idx="64">
                  <c:v>80.064</c:v>
                </c:pt>
                <c:pt idx="65">
                  <c:v>80.064</c:v>
                </c:pt>
                <c:pt idx="66">
                  <c:v>80.06</c:v>
                </c:pt>
                <c:pt idx="67">
                  <c:v>80.059</c:v>
                </c:pt>
                <c:pt idx="68">
                  <c:v>80.041</c:v>
                </c:pt>
                <c:pt idx="69">
                  <c:v>80.031</c:v>
                </c:pt>
                <c:pt idx="70">
                  <c:v>80.029</c:v>
                </c:pt>
                <c:pt idx="71">
                  <c:v>80.017</c:v>
                </c:pt>
                <c:pt idx="72">
                  <c:v>80.008</c:v>
                </c:pt>
                <c:pt idx="73">
                  <c:v>80.008</c:v>
                </c:pt>
                <c:pt idx="74">
                  <c:v>79.989</c:v>
                </c:pt>
                <c:pt idx="75">
                  <c:v>79.989</c:v>
                </c:pt>
                <c:pt idx="76">
                  <c:v>79.986</c:v>
                </c:pt>
                <c:pt idx="77">
                  <c:v>79.979</c:v>
                </c:pt>
                <c:pt idx="78">
                  <c:v>79.969</c:v>
                </c:pt>
                <c:pt idx="79">
                  <c:v>79.966</c:v>
                </c:pt>
                <c:pt idx="80">
                  <c:v>79.966</c:v>
                </c:pt>
                <c:pt idx="81">
                  <c:v>79.959</c:v>
                </c:pt>
                <c:pt idx="82">
                  <c:v>79.959</c:v>
                </c:pt>
                <c:pt idx="83">
                  <c:v>79.948</c:v>
                </c:pt>
                <c:pt idx="84">
                  <c:v>79.94</c:v>
                </c:pt>
                <c:pt idx="85">
                  <c:v>79.94</c:v>
                </c:pt>
                <c:pt idx="86">
                  <c:v>79.94</c:v>
                </c:pt>
                <c:pt idx="87">
                  <c:v>79.937</c:v>
                </c:pt>
                <c:pt idx="88">
                  <c:v>79.937</c:v>
                </c:pt>
                <c:pt idx="89">
                  <c:v>79.937</c:v>
                </c:pt>
                <c:pt idx="90">
                  <c:v>79.937</c:v>
                </c:pt>
                <c:pt idx="91">
                  <c:v>79.937</c:v>
                </c:pt>
                <c:pt idx="92">
                  <c:v>79.937</c:v>
                </c:pt>
                <c:pt idx="93">
                  <c:v>79.937</c:v>
                </c:pt>
                <c:pt idx="94">
                  <c:v>79.937</c:v>
                </c:pt>
                <c:pt idx="95">
                  <c:v>79.937</c:v>
                </c:pt>
                <c:pt idx="96">
                  <c:v>79.937</c:v>
                </c:pt>
                <c:pt idx="97">
                  <c:v>79.937</c:v>
                </c:pt>
                <c:pt idx="98">
                  <c:v>79.937</c:v>
                </c:pt>
                <c:pt idx="99">
                  <c:v>79.937</c:v>
                </c:pt>
                <c:pt idx="100">
                  <c:v>79.937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8A97AD"/>
                    </a:solidFill>
                    <a:latin typeface="+mn-lt"/>
                  </a:defRPr>
                </a:pPr>
                <a:r>
                  <a:rPr sz="1100" b="0" i="0" u="none" strike="noStrike">
                    <a:solidFill>
                      <a:srgbClr val="8A97AD"/>
                    </a:solidFill>
                    <a:latin typeface="+mn-lt"/>
                  </a:rPr>
                  <a:t>iteration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A97AD"/>
                </a:solidFill>
                <a:latin typeface="+mn-lt"/>
              </a:defRPr>
            </a:pPr>
            <a:endParaRPr lang="en-US"/>
          </a:p>
        </c:txPr>
        <c:crossAx val="2094734552"/>
        <c:crosses val="autoZero"/>
        <c:auto val="1"/>
        <c:lblAlgn val="ctr"/>
        <c:noMultiLvlLbl val="1"/>
        <c:tickLblSkip val="16"/>
      </c:catAx>
      <c:valAx>
        <c:axId val="2094734552"/>
        <c:scaling>
          <c:orientation val="minMax"/>
        </c:scaling>
        <c:delete val="0"/>
        <c:axPos val="l"/>
        <c:majorGridlines>
          <c:spPr>
            <a:ln w="6350" cap="flat">
              <a:solidFill>
                <a:srgbClr val="1A2233"/>
              </a:solidFill>
              <a:prstDash val="solid"/>
              <a:round/>
            </a:ln>
          </c:spPr>
        </c:majorGridlines>
        <c:title>
          <c:tx>
            <c:rich>
              <a:bodyPr/>
              <a:lstStyle/>
              <a:p>
                <a:pPr>
                  <a:defRPr sz="1100" b="0" i="0" u="none" strike="noStrike">
                    <a:solidFill>
                      <a:srgbClr val="8A97AD"/>
                    </a:solidFill>
                    <a:latin typeface="+mn-lt"/>
                  </a:defRPr>
                </a:pPr>
                <a:r>
                  <a:rPr sz="1100" b="0" i="0" u="none" strike="noStrike">
                    <a:solidFill>
                      <a:srgbClr val="8A97AD"/>
                    </a:solidFill>
                    <a:latin typeface="+mn-lt"/>
                  </a:rPr>
                  <a:t>train km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7AD"/>
                </a:solidFill>
                <a:latin typeface="+mn-lt"/>
              </a:defRPr>
            </a:pPr>
            <a:endParaRPr lang="en-US"/>
          </a:p>
        </c:txPr>
        <c:crossAx val="2094734554"/>
        <c:crosses val="autoZero"/>
        <c:crossBetween val="between"/>
      </c:valAx>
      <c:spPr>
        <a:solidFill>
          <a:srgbClr val="0B0F17"/>
        </a:solidFill>
        <a:ln>
          <a:noFill/>
        </a:ln>
        <a:effectLst/>
      </c:spPr>
    </c:plotArea>
    <c:legend>
      <c:legendPos val="b"/>
      <c:overlay val="0"/>
      <c:txPr>
        <a:bodyPr/>
        <a:lstStyle/>
        <a:p>
          <a:pPr>
            <a:defRPr sz="1200">
              <a:solidFill>
                <a:srgbClr val="8A97A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line: same orders, two layouts. The ghost walks the baseline the brief told us to beat, the solid picker walks the layout our optimiser found. Ghostwalk is a browser 3D twin of a picking floor driven by real November 2011 orders from UCI Online Retail II. The rest of the deck backs up one claim: the walking we save is measured on orders the layout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PS 4.2 in one line: where each product sits decides how far pickers walk. The core challenge is in card 3. The twin must be driven by real order data, and the gain has to be measured by replaying exactly the same orders before and after. That sentence shaped every design decision we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UCI Online Retail II, a UK gift retailer, November 2011. We removed cancellations, returns and adjustments, and postage or fee codes, then kept the 100 most-picked products. That is what the problem statement asks for, and it is why the coverage figure is shown: we slot the top 100, not the whole catalogue. The split is chronological. The first half of November trains, the second half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leaves the warehouse to us, so we declare it. One file, sim/layout.ts, is the single source of truth: the simulator, this diagram and the README table all come from it. Pickers move only on the aisle graph. Both rack sides of a bay share one node, because the picker stands in the aisle and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exact routing matters: if routing is heuristic, a layout can look better just because the heuristic got lucky on it. With exact tours, the difference between two layouts is the layout. Held–Karp is exponential, so we cap it at 11 stops and are open about the rest. The Evidence panel shows how many orders and what share of the metres were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loop. Replay one invoice in 3D. Slot: press Baseline, then make your own swaps. Race: the Baseline ghost against the SA layout, or against your own. Anneal: watch the optimiser play. Evidence: the numbers behind it all. The three must-haves of PS 4.2 are on the bottom line. Heatmap and leaderboard are the stretch goals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opponent to beat after Baseline. Simulated annealing swaps two products, re-routes only the orders those products appear in, which is why it is fast, and sometimes accepts a worse layout early on to escape local optima. The budget is iterations, not seconds, so the result is reproducible. It never sees the held-out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simulator everywhere. The engine is plain TypeScript with no DOM. In the browser it runs in a Web Worker, so the 3D keeps animating while layouts are scored. The scene only plays back paths the simulator produced. The same files run in Node for npm run eval, which writes the results this deck and the README quote, plus the shipped SA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headline as the held-out gain versus Baseline, the layout the problem statement told us to beat. Original and Random are there so nobody can say we picked a weak starting point. SA is reported over five seeds in eval/results.md, so the spread is visible. Why Baseline barely beats catalogue order: most of the top co-picked pairs are product families with neighbouring StockCodes, so catalogue order keeps them close by accident, while Baseline ranks products one at a time and scatters them. The annealer scores whole orders and puts them back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questions we expect from judges, answered by design rather than by argument. The Q&amp;A cards in docs/pitch go deeper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aloud in the demo. Stating limits plainly is part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links and hand over for questions. Both of us can explain every module; see docs/pitch/qa_cards.md.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W_TITLE">
    <p:bg>
      <p:bgPr>
        <a:solidFill>
          <a:srgbClr val="0B0F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85800"/>
            <a:ext cx="779526" cy="502920"/>
          </a:xfrm>
          <a:prstGeom prst="rect">
            <a:avLst/>
          </a:prstGeom>
        </p:spPr>
      </p:pic>
      <p:sp>
        <p:nvSpPr>
          <p:cNvPr id="3" name="Text 0"/>
          <p:cNvSpPr/>
          <p:nvPr>
            <p:ph idx="101" type="title" hasCustomPrompt="1"/>
          </p:nvPr>
        </p:nvSpPr>
        <p:spPr>
          <a:xfrm>
            <a:off x="548640" y="2148840"/>
            <a:ext cx="5120640" cy="1737360"/>
          </a:xfrm>
          <a:prstGeom prst="rect">
            <a:avLst/>
          </a:prstGeom>
          <a:noFill/>
          <a:ln/>
        </p:spPr>
        <p:txBody>
          <a:bodyPr wrap="square" rtlCol="0"/>
          <a:lstStyle>
            <a:lvl1pPr algn="l" indent="0" marL="0">
              <a:buNone/>
              <a:defRPr lang="en-US" sz="5000" b="1" dirty="0">
                <a:solidFill>
                  <a:schemeClr val="bg1"/>
                </a:solidFill>
                <a:latin typeface="Arial" pitchFamily="34" charset="0"/>
                <a:ea typeface="Arial" pitchFamily="34" charset="-122"/>
                <a:cs typeface="Arial" pitchFamily="34" charset="-120"/>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W_CONTENT">
    <p:bg>
      <p:bgPr>
        <a:solidFill>
          <a:srgbClr val="0B0F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189513" y="603504"/>
            <a:ext cx="453542" cy="292608"/>
          </a:xfrm>
          <a:prstGeom prst="rect">
            <a:avLst/>
          </a:prstGeom>
        </p:spPr>
      </p:pic>
      <p:sp>
        <p:nvSpPr>
          <p:cNvPr id="3" name="Text 0"/>
          <p:cNvSpPr/>
          <p:nvPr>
            <p:ph idx="101" type="title" hasCustomPrompt="1"/>
          </p:nvPr>
        </p:nvSpPr>
        <p:spPr>
          <a:xfrm>
            <a:off x="548640" y="384048"/>
            <a:ext cx="10180015" cy="73152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spc="200" kern="0" dirty="0">
                <a:solidFill>
                  <a:schemeClr val="bg2"/>
                </a:solidFill>
              </a:rPr>
              <a:t>GHOSTWALK · NexAI Hack 2026 · PS 4.2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Anandb71/ghostwalk" TargetMode="External"/><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5486400" cy="411480"/>
          </a:xfrm>
          <a:prstGeom prst="rect">
            <a:avLst/>
          </a:prstGeom>
          <a:noFill/>
          <a:ln/>
        </p:spPr>
        <p:txBody>
          <a:bodyPr wrap="square" lIns="0" tIns="0" rIns="0" bIns="0" rtlCol="0" anchor="t"/>
          <a:lstStyle/>
          <a:p>
            <a:pPr indent="0" marL="0">
              <a:buNone/>
            </a:pPr>
            <a:r>
              <a:rPr lang="en-US" sz="1600" b="1" spc="600" kern="0" dirty="0">
                <a:solidFill>
                  <a:schemeClr val="accent1"/>
                </a:solidFill>
                <a:latin typeface="Arial" pitchFamily="34" charset="0"/>
                <a:ea typeface="Arial" pitchFamily="34" charset="-122"/>
                <a:cs typeface="Arial" pitchFamily="34" charset="-120"/>
              </a:rPr>
              <a:t>GHOSTWALK</a:t>
            </a:r>
            <a:endParaRPr lang="en-US" sz="1600" dirty="0"/>
          </a:p>
        </p:txBody>
      </p:sp>
      <p:sp>
        <p:nvSpPr>
          <p:cNvPr id="3" name="Text 0"/>
          <p:cNvSpPr/>
          <p:nvPr>
            <p:ph idx="101" type="title" hasCustomPrompt="1"/>
          </p:nvPr>
        </p:nvSpPr>
        <p:spPr>
          <a:xfrm>
            <a:off x="548640" y="2148840"/>
            <a:ext cx="5120640" cy="1737360"/>
          </a:xfrm>
          <a:prstGeom prst="rect">
            <a:avLst/>
          </a:prstGeom>
          <a:noFill/>
          <a:ln/>
        </p:spPr>
        <p:txBody>
          <a:bodyPr wrap="square" lIns="0" tIns="0" rIns="0" bIns="0" rtlCol="0" anchor="t"/>
          <a:lstStyle/>
          <a:p>
            <a:pPr algn="l" indent="0" marL="0">
              <a:buNone/>
            </a:pPr>
            <a:r>
              <a:rPr lang="en-US" sz="5000" b="1" dirty="0">
                <a:solidFill>
                  <a:schemeClr val="bg1"/>
                </a:solidFill>
                <a:latin typeface="Arial" pitchFamily="34" charset="0"/>
                <a:ea typeface="Arial" pitchFamily="34" charset="-122"/>
                <a:cs typeface="Arial" pitchFamily="34" charset="-120"/>
              </a:rPr>
              <a:t>Race your old warehouse</a:t>
            </a:r>
            <a:endParaRPr lang="en-US" sz="5000" dirty="0"/>
          </a:p>
        </p:txBody>
      </p:sp>
      <p:sp>
        <p:nvSpPr>
          <p:cNvPr id="4" name="Text 2"/>
          <p:cNvSpPr txBox="1"/>
          <p:nvPr/>
        </p:nvSpPr>
        <p:spPr>
          <a:xfrm>
            <a:off x="548640" y="3977640"/>
            <a:ext cx="5120640" cy="1280160"/>
          </a:xfrm>
          <a:prstGeom prst="rect">
            <a:avLst/>
          </a:prstGeom>
          <a:noFill/>
          <a:ln/>
        </p:spPr>
        <p:txBody>
          <a:bodyPr wrap="square" lIns="0" tIns="0" rIns="0" bIns="0" rtlCol="0" anchor="t"/>
          <a:lstStyle/>
          <a:p>
            <a:pPr indent="0" marL="0">
              <a:buNone/>
            </a:pPr>
            <a:r>
              <a:rPr lang="en-US" sz="1800" dirty="0">
                <a:solidFill>
                  <a:schemeClr val="bg2"/>
                </a:solidFill>
                <a:latin typeface="Calibri" pitchFamily="34" charset="0"/>
                <a:ea typeface="Calibri" pitchFamily="34" charset="-122"/>
                <a:cs typeface="Calibri" pitchFamily="34" charset="-120"/>
              </a:rPr>
              <a:t>A 3D digital twin of a picking floor, driven by one real month of orders. A ghost picker walks the fast-movers baseline, a solid picker walks our optimised layout or yours, and every gain is measured on held-out orders.</a:t>
            </a:r>
            <a:endParaRPr lang="en-US" sz="1800" dirty="0"/>
          </a:p>
        </p:txBody>
      </p:sp>
      <p:sp>
        <p:nvSpPr>
          <p:cNvPr id="5" name="Text 3"/>
          <p:cNvSpPr txBox="1"/>
          <p:nvPr/>
        </p:nvSpPr>
        <p:spPr>
          <a:xfrm>
            <a:off x="548640" y="5440680"/>
            <a:ext cx="5120640" cy="320040"/>
          </a:xfrm>
          <a:prstGeom prst="rect">
            <a:avLst/>
          </a:prstGeom>
          <a:noFill/>
          <a:ln/>
        </p:spPr>
        <p:txBody>
          <a:bodyPr wrap="square" lIns="0" tIns="0" rIns="0" bIns="0" rtlCol="0" anchor="t"/>
          <a:lstStyle/>
          <a:p>
            <a:pPr indent="0" marL="0">
              <a:buNone/>
            </a:pPr>
            <a:r>
              <a:rPr lang="en-US" sz="1400" b="1" dirty="0">
                <a:solidFill>
                  <a:schemeClr val="bg1"/>
                </a:solidFill>
                <a:latin typeface="Calibri" pitchFamily="34" charset="0"/>
                <a:ea typeface="Calibri" pitchFamily="34" charset="-122"/>
                <a:cs typeface="Calibri" pitchFamily="34" charset="-120"/>
              </a:rPr>
              <a:t>NexAI Hack 2026 · Problem 4.2 · Warehouse Digital Twin</a:t>
            </a:r>
            <a:endParaRPr lang="en-US" sz="1400" dirty="0"/>
          </a:p>
        </p:txBody>
      </p:sp>
      <p:sp>
        <p:nvSpPr>
          <p:cNvPr id="6" name="Text 4"/>
          <p:cNvSpPr txBox="1"/>
          <p:nvPr/>
        </p:nvSpPr>
        <p:spPr>
          <a:xfrm>
            <a:off x="548640" y="5806440"/>
            <a:ext cx="512064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Anand B (@Anandb71) · Junaid Ahamed (@JunaidAhamed-7777)</a:t>
            </a:r>
            <a:endParaRPr lang="en-US" sz="1400" dirty="0"/>
          </a:p>
        </p:txBody>
      </p:sp>
      <p:pic>
        <p:nvPicPr>
          <p:cNvPr id="7" name="floorplan" descr="Floor plan of the declared warehouse: 5 aisles, 100 slots, dock at the front-left">    </p:cNvPr>
          <p:cNvPicPr>
            <a:picLocks noChangeAspect="1"/>
          </p:cNvPicPr>
          <p:nvPr/>
        </p:nvPicPr>
        <p:blipFill>
          <a:blip r:embed="rId1"/>
          <a:stretch>
            <a:fillRect/>
          </a:stretch>
        </p:blipFill>
        <p:spPr>
          <a:xfrm>
            <a:off x="6207455" y="1234440"/>
            <a:ext cx="5435600" cy="4389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Slotting decides how far pickers walk</a:t>
            </a:r>
            <a:endParaRPr lang="en-US" sz="3200" dirty="0"/>
          </a:p>
        </p:txBody>
      </p:sp>
      <p:sp>
        <p:nvSpPr>
          <p:cNvPr id="3" name="card-The cost"/>
          <p:cNvSpPr/>
          <p:nvPr/>
        </p:nvSpPr>
        <p:spPr>
          <a:xfrm>
            <a:off x="548640" y="1600200"/>
            <a:ext cx="3454298" cy="2834640"/>
          </a:xfrm>
          <a:prstGeom prst="roundRect">
            <a:avLst>
              <a:gd name="adj" fmla="val 3871"/>
            </a:avLst>
          </a:prstGeom>
          <a:solidFill>
            <a:schemeClr val="tx2"/>
          </a:solidFill>
          <a:ln w="9525">
            <a:solidFill>
              <a:schemeClr val="accent6"/>
            </a:solidFill>
            <a:prstDash val="solid"/>
          </a:ln>
        </p:spPr>
      </p:sp>
      <p:sp>
        <p:nvSpPr>
          <p:cNvPr id="4" name="Shape 2"/>
          <p:cNvSpPr/>
          <p:nvPr/>
        </p:nvSpPr>
        <p:spPr>
          <a:xfrm>
            <a:off x="822960" y="187452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22960" y="187452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874520"/>
            <a:ext cx="244845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The cost</a:t>
            </a:r>
            <a:endParaRPr lang="en-US" sz="1900" dirty="0"/>
          </a:p>
        </p:txBody>
      </p:sp>
      <p:sp>
        <p:nvSpPr>
          <p:cNvPr id="7" name="Text 5"/>
          <p:cNvSpPr txBox="1"/>
          <p:nvPr/>
        </p:nvSpPr>
        <p:spPr>
          <a:xfrm>
            <a:off x="822960" y="2468880"/>
            <a:ext cx="2905658" cy="173736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Every order is a walk from the dock to each product's slot and back. Put the fast movers far away and every single order pays for it.</a:t>
            </a:r>
            <a:endParaRPr lang="en-US" sz="1700" dirty="0"/>
          </a:p>
        </p:txBody>
      </p:sp>
      <p:sp>
        <p:nvSpPr>
          <p:cNvPr id="8" name="card-The ask"/>
          <p:cNvSpPr/>
          <p:nvPr/>
        </p:nvSpPr>
        <p:spPr>
          <a:xfrm>
            <a:off x="4368698" y="1600200"/>
            <a:ext cx="3454298" cy="2834640"/>
          </a:xfrm>
          <a:prstGeom prst="roundRect">
            <a:avLst>
              <a:gd name="adj" fmla="val 3871"/>
            </a:avLst>
          </a:prstGeom>
          <a:solidFill>
            <a:schemeClr val="tx2"/>
          </a:solidFill>
          <a:ln w="9525">
            <a:solidFill>
              <a:schemeClr val="accent6"/>
            </a:solidFill>
            <a:prstDash val="solid"/>
          </a:ln>
        </p:spPr>
      </p:sp>
      <p:sp>
        <p:nvSpPr>
          <p:cNvPr id="9" name="Shape 7"/>
          <p:cNvSpPr/>
          <p:nvPr/>
        </p:nvSpPr>
        <p:spPr>
          <a:xfrm>
            <a:off x="4643018" y="1874520"/>
            <a:ext cx="384048" cy="384048"/>
          </a:xfrm>
          <a:prstGeom prst="ellipse">
            <a:avLst/>
          </a:prstGeom>
          <a:solidFill>
            <a:schemeClr val="accent2"/>
          </a:solidFill>
          <a:ln w="12700">
            <a:solidFill>
              <a:schemeClr val="accent2"/>
            </a:solidFill>
            <a:prstDash val="solid"/>
          </a:ln>
        </p:spPr>
      </p:sp>
      <p:sp>
        <p:nvSpPr>
          <p:cNvPr id="10" name="Text 8"/>
          <p:cNvSpPr txBox="1"/>
          <p:nvPr/>
        </p:nvSpPr>
        <p:spPr>
          <a:xfrm>
            <a:off x="4643018" y="187452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145938" y="1874520"/>
            <a:ext cx="244845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The ask</a:t>
            </a:r>
            <a:endParaRPr lang="en-US" sz="1900" dirty="0"/>
          </a:p>
        </p:txBody>
      </p:sp>
      <p:sp>
        <p:nvSpPr>
          <p:cNvPr id="12" name="Text 10"/>
          <p:cNvSpPr txBox="1"/>
          <p:nvPr/>
        </p:nvSpPr>
        <p:spPr>
          <a:xfrm>
            <a:off x="4643018" y="2468880"/>
            <a:ext cx="2905658" cy="173736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A browser 3D twin of a picking floor, driven by real orders, where the player re-slots products and the twin shows the walking saved.</a:t>
            </a:r>
            <a:endParaRPr lang="en-US" sz="1700" dirty="0"/>
          </a:p>
        </p:txBody>
      </p:sp>
      <p:sp>
        <p:nvSpPr>
          <p:cNvPr id="13" name="card-The catch"/>
          <p:cNvSpPr/>
          <p:nvPr/>
        </p:nvSpPr>
        <p:spPr>
          <a:xfrm>
            <a:off x="8188757" y="1600200"/>
            <a:ext cx="3454298" cy="2834640"/>
          </a:xfrm>
          <a:prstGeom prst="roundRect">
            <a:avLst>
              <a:gd name="adj" fmla="val 3871"/>
            </a:avLst>
          </a:prstGeom>
          <a:solidFill>
            <a:schemeClr val="tx2"/>
          </a:solidFill>
          <a:ln w="9525">
            <a:solidFill>
              <a:schemeClr val="accent6"/>
            </a:solidFill>
            <a:prstDash val="solid"/>
          </a:ln>
        </p:spPr>
      </p:sp>
      <p:sp>
        <p:nvSpPr>
          <p:cNvPr id="14" name="Shape 12"/>
          <p:cNvSpPr/>
          <p:nvPr/>
        </p:nvSpPr>
        <p:spPr>
          <a:xfrm>
            <a:off x="8463077" y="1874520"/>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8463077" y="187452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8965997" y="1874520"/>
            <a:ext cx="244845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The catch</a:t>
            </a:r>
            <a:endParaRPr lang="en-US" sz="1900" dirty="0"/>
          </a:p>
        </p:txBody>
      </p:sp>
      <p:sp>
        <p:nvSpPr>
          <p:cNvPr id="17" name="Text 15"/>
          <p:cNvSpPr txBox="1"/>
          <p:nvPr/>
        </p:nvSpPr>
        <p:spPr>
          <a:xfrm>
            <a:off x="8463077" y="2468880"/>
            <a:ext cx="2905658" cy="173736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The improvement has to be measured by replaying the same orders before and after, not claimed. Walking must follow aisles, never cut through racks.</a:t>
            </a:r>
            <a:endParaRPr lang="en-US" sz="1700" dirty="0"/>
          </a:p>
        </p:txBody>
      </p:sp>
      <p:sp>
        <p:nvSpPr>
          <p:cNvPr id="18" name="answer"/>
          <p:cNvSpPr/>
          <p:nvPr/>
        </p:nvSpPr>
        <p:spPr>
          <a:xfrm>
            <a:off x="548640" y="4846320"/>
            <a:ext cx="11094415" cy="960120"/>
          </a:xfrm>
          <a:prstGeom prst="roundRect">
            <a:avLst>
              <a:gd name="adj" fmla="val 11429"/>
            </a:avLst>
          </a:prstGeom>
          <a:solidFill>
            <a:schemeClr val="accent5"/>
          </a:solidFill>
          <a:ln w="9525">
            <a:solidFill>
              <a:schemeClr val="accent6"/>
            </a:solidFill>
            <a:prstDash val="solid"/>
          </a:ln>
        </p:spPr>
      </p:sp>
      <p:sp>
        <p:nvSpPr>
          <p:cNvPr id="19" name="Text 17"/>
          <p:cNvSpPr txBox="1"/>
          <p:nvPr/>
        </p:nvSpPr>
        <p:spPr>
          <a:xfrm>
            <a:off x="868680" y="4846320"/>
            <a:ext cx="10454335" cy="960120"/>
          </a:xfrm>
          <a:prstGeom prst="rect">
            <a:avLst/>
          </a:prstGeom>
          <a:noFill/>
          <a:ln/>
        </p:spPr>
        <p:txBody>
          <a:bodyPr wrap="square" lIns="0" tIns="0" rIns="0" bIns="0" rtlCol="0" anchor="ctr"/>
          <a:lstStyle/>
          <a:p>
            <a:pPr indent="0" marL="0">
              <a:buNone/>
            </a:pPr>
            <a:r>
              <a:rPr lang="en-US" sz="1800" b="1" dirty="0">
                <a:solidFill>
                  <a:schemeClr val="accent1"/>
                </a:solidFill>
                <a:latin typeface="Calibri" pitchFamily="34" charset="0"/>
                <a:ea typeface="Calibri" pitchFamily="34" charset="-122"/>
                <a:cs typeface="Calibri" pitchFamily="34" charset="-120"/>
              </a:rPr>
              <a:t>Our answer  </a:t>
            </a:r>
            <a:pPr indent="0" marL="0">
              <a:buNone/>
            </a:pPr>
            <a:r>
              <a:rPr lang="en-US" sz="1800" dirty="0">
                <a:solidFill>
                  <a:schemeClr val="bg1"/>
                </a:solidFill>
                <a:latin typeface="Calibri" pitchFamily="34" charset="0"/>
                <a:ea typeface="Calibri" pitchFamily="34" charset="-122"/>
                <a:cs typeface="Calibri" pitchFamily="34" charset="-120"/>
              </a:rPr>
              <a:t>replay real invoices on an exact aisle graph, and score every layout on orders it has never seen.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One real month of orders, cleaned and split</a:t>
            </a:r>
            <a:endParaRPr lang="en-US" sz="3200" dirty="0"/>
          </a:p>
        </p:txBody>
      </p:sp>
      <p:sp>
        <p:nvSpPr>
          <p:cNvPr id="3" name="stat-real invoices replayed"/>
          <p:cNvSpPr/>
          <p:nvPr/>
        </p:nvSpPr>
        <p:spPr>
          <a:xfrm>
            <a:off x="548640" y="1463040"/>
            <a:ext cx="2606040" cy="1783080"/>
          </a:xfrm>
          <a:prstGeom prst="roundRect">
            <a:avLst>
              <a:gd name="adj" fmla="val 6154"/>
            </a:avLst>
          </a:prstGeom>
          <a:solidFill>
            <a:schemeClr val="tx2"/>
          </a:solidFill>
          <a:ln w="9525">
            <a:solidFill>
              <a:schemeClr val="accent6"/>
            </a:solidFill>
            <a:prstDash val="solid"/>
          </a:ln>
        </p:spPr>
      </p:sp>
      <p:sp>
        <p:nvSpPr>
          <p:cNvPr id="4" name="Text 2"/>
          <p:cNvSpPr txBox="1"/>
          <p:nvPr/>
        </p:nvSpPr>
        <p:spPr>
          <a:xfrm>
            <a:off x="777240" y="1691640"/>
            <a:ext cx="2194560" cy="77724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2,362</a:t>
            </a:r>
            <a:endParaRPr lang="en-US" sz="4000" dirty="0"/>
          </a:p>
        </p:txBody>
      </p:sp>
      <p:sp>
        <p:nvSpPr>
          <p:cNvPr id="5" name="Text 3"/>
          <p:cNvSpPr txBox="1"/>
          <p:nvPr/>
        </p:nvSpPr>
        <p:spPr>
          <a:xfrm>
            <a:off x="777240" y="2514600"/>
            <a:ext cx="2194560"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real invoices replayed</a:t>
            </a:r>
            <a:endParaRPr lang="en-US" sz="1400" dirty="0"/>
          </a:p>
        </p:txBody>
      </p:sp>
      <p:sp>
        <p:nvSpPr>
          <p:cNvPr id="6" name="stat-order lines"/>
          <p:cNvSpPr/>
          <p:nvPr/>
        </p:nvSpPr>
        <p:spPr>
          <a:xfrm>
            <a:off x="3383280" y="1463040"/>
            <a:ext cx="2606040" cy="1783080"/>
          </a:xfrm>
          <a:prstGeom prst="roundRect">
            <a:avLst>
              <a:gd name="adj" fmla="val 6154"/>
            </a:avLst>
          </a:prstGeom>
          <a:solidFill>
            <a:schemeClr val="tx2"/>
          </a:solidFill>
          <a:ln w="9525">
            <a:solidFill>
              <a:schemeClr val="accent6"/>
            </a:solidFill>
            <a:prstDash val="solid"/>
          </a:ln>
        </p:spPr>
      </p:sp>
      <p:sp>
        <p:nvSpPr>
          <p:cNvPr id="7" name="Text 5"/>
          <p:cNvSpPr txBox="1"/>
          <p:nvPr/>
        </p:nvSpPr>
        <p:spPr>
          <a:xfrm>
            <a:off x="3611880" y="1691640"/>
            <a:ext cx="2194560" cy="77724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17,056</a:t>
            </a:r>
            <a:endParaRPr lang="en-US" sz="4000" dirty="0"/>
          </a:p>
        </p:txBody>
      </p:sp>
      <p:sp>
        <p:nvSpPr>
          <p:cNvPr id="8" name="Text 6"/>
          <p:cNvSpPr txBox="1"/>
          <p:nvPr/>
        </p:nvSpPr>
        <p:spPr>
          <a:xfrm>
            <a:off x="3611880" y="2514600"/>
            <a:ext cx="2194560"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order lines</a:t>
            </a:r>
            <a:endParaRPr lang="en-US" sz="1400" dirty="0"/>
          </a:p>
        </p:txBody>
      </p:sp>
      <p:sp>
        <p:nvSpPr>
          <p:cNvPr id="9" name="stat-SKUs slotted (top by order lines)"/>
          <p:cNvSpPr/>
          <p:nvPr/>
        </p:nvSpPr>
        <p:spPr>
          <a:xfrm>
            <a:off x="548640" y="3474720"/>
            <a:ext cx="2606040" cy="1783080"/>
          </a:xfrm>
          <a:prstGeom prst="roundRect">
            <a:avLst>
              <a:gd name="adj" fmla="val 6154"/>
            </a:avLst>
          </a:prstGeom>
          <a:solidFill>
            <a:schemeClr val="tx2"/>
          </a:solidFill>
          <a:ln w="9525">
            <a:solidFill>
              <a:schemeClr val="accent6"/>
            </a:solidFill>
            <a:prstDash val="solid"/>
          </a:ln>
        </p:spPr>
      </p:sp>
      <p:sp>
        <p:nvSpPr>
          <p:cNvPr id="10" name="Text 8"/>
          <p:cNvSpPr txBox="1"/>
          <p:nvPr/>
        </p:nvSpPr>
        <p:spPr>
          <a:xfrm>
            <a:off x="777240" y="3703320"/>
            <a:ext cx="2194560" cy="77724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100</a:t>
            </a:r>
            <a:endParaRPr lang="en-US" sz="4000" dirty="0"/>
          </a:p>
        </p:txBody>
      </p:sp>
      <p:sp>
        <p:nvSpPr>
          <p:cNvPr id="11" name="Text 9"/>
          <p:cNvSpPr txBox="1"/>
          <p:nvPr/>
        </p:nvSpPr>
        <p:spPr>
          <a:xfrm>
            <a:off x="777240" y="4526280"/>
            <a:ext cx="2194560"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SKUs slotted (top by order lines)</a:t>
            </a:r>
            <a:endParaRPr lang="en-US" sz="1400" dirty="0"/>
          </a:p>
        </p:txBody>
      </p:sp>
      <p:sp>
        <p:nvSpPr>
          <p:cNvPr id="12" name="stat-of the month's lines they cover"/>
          <p:cNvSpPr/>
          <p:nvPr/>
        </p:nvSpPr>
        <p:spPr>
          <a:xfrm>
            <a:off x="3383280" y="3474720"/>
            <a:ext cx="2606040" cy="1783080"/>
          </a:xfrm>
          <a:prstGeom prst="roundRect">
            <a:avLst>
              <a:gd name="adj" fmla="val 6154"/>
            </a:avLst>
          </a:prstGeom>
          <a:solidFill>
            <a:schemeClr val="tx2"/>
          </a:solidFill>
          <a:ln w="9525">
            <a:solidFill>
              <a:schemeClr val="accent6"/>
            </a:solidFill>
            <a:prstDash val="solid"/>
          </a:ln>
        </p:spPr>
      </p:sp>
      <p:sp>
        <p:nvSpPr>
          <p:cNvPr id="13" name="Text 11"/>
          <p:cNvSpPr txBox="1"/>
          <p:nvPr/>
        </p:nvSpPr>
        <p:spPr>
          <a:xfrm>
            <a:off x="3611880" y="3703320"/>
            <a:ext cx="2194560" cy="777240"/>
          </a:xfrm>
          <a:prstGeom prst="rect">
            <a:avLst/>
          </a:prstGeom>
          <a:noFill/>
          <a:ln/>
        </p:spPr>
        <p:txBody>
          <a:bodyPr wrap="square" lIns="0" tIns="0" rIns="0" bIns="0" rtlCol="0" anchor="ctr"/>
          <a:lstStyle/>
          <a:p>
            <a:pPr indent="0" marL="0">
              <a:buNone/>
            </a:pPr>
            <a:r>
              <a:rPr lang="en-US" sz="4000" b="1" dirty="0">
                <a:solidFill>
                  <a:schemeClr val="accent2"/>
                </a:solidFill>
                <a:latin typeface="Arial" pitchFamily="34" charset="0"/>
                <a:ea typeface="Arial" pitchFamily="34" charset="-122"/>
                <a:cs typeface="Arial" pitchFamily="34" charset="-120"/>
              </a:rPr>
              <a:t>21.2 %</a:t>
            </a:r>
            <a:endParaRPr lang="en-US" sz="4000" dirty="0"/>
          </a:p>
        </p:txBody>
      </p:sp>
      <p:sp>
        <p:nvSpPr>
          <p:cNvPr id="14" name="Text 12"/>
          <p:cNvSpPr txBox="1"/>
          <p:nvPr/>
        </p:nvSpPr>
        <p:spPr>
          <a:xfrm>
            <a:off x="3611880" y="4526280"/>
            <a:ext cx="2194560"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of the month's lines they cover</a:t>
            </a:r>
            <a:endParaRPr lang="en-US" sz="1400" dirty="0"/>
          </a:p>
        </p:txBody>
      </p:sp>
      <p:sp>
        <p:nvSpPr>
          <p:cNvPr id="15" name="Text 13"/>
          <p:cNvSpPr txBox="1"/>
          <p:nvPr/>
        </p:nvSpPr>
        <p:spPr>
          <a:xfrm>
            <a:off x="6583680" y="1463040"/>
            <a:ext cx="5059375"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Cleaning (whole sheet, Dec 2010 – Dec 2011)</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920240"/>
          <a:ext cx="5059375" cy="914400"/>
        </p:xfrm>
        <a:graphic>
          <a:graphicData uri="http://schemas.openxmlformats.org/drawingml/2006/table">
            <a:tbl>
              <a:tblPr/>
              <a:tblGrid>
                <a:gridCol w="3596335"/>
                <a:gridCol w="1463040"/>
              </a:tblGrid>
              <a:tr h="329184">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raw rows</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541,910</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r>
              <a:tr h="329184">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cancelled invoices removed</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9,288</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r>
              <a:tr h="329184">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quantity ≤ 0 removed</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1,336</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r>
              <a:tr h="329184">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price ≤ 0 removed</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1,181</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r>
              <a:tr h="329184">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non-product codes removed</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400" b="1" dirty="0">
                          <a:solidFill>
                            <a:schemeClr val="bg1"/>
                          </a:solidFill>
                          <a:latin typeface="Calibri" pitchFamily="34" charset="0"/>
                          <a:ea typeface="Calibri" pitchFamily="34" charset="-122"/>
                          <a:cs typeface="Calibri" pitchFamily="34" charset="-120"/>
                        </a:rPr>
                        <a:t>2,380</a:t>
                      </a:r>
                      <a:endParaRPr lang="en-US" sz="1400" dirty="0">
                        <a:latin typeface="Calibri" charset="0"/>
                        <a:ea typeface="Calibri" charset="0"/>
                        <a:cs typeface="Calibri" charset="0"/>
                      </a:endParaRPr>
                    </a:p>
                  </a:txBody>
                  <a:tcPr marL="0" marR="0" marT="0" marB="0">
                    <a:lnL w="0" cap="flat" cmpd="sng" algn="ctr">
                      <a:noFill/>
                    </a:lnL>
                    <a:lnR w="0" cap="flat" cmpd="sng" algn="ctr">
                      <a:noFill/>
                    </a:lnR>
                    <a:lnT w="0" cap="flat" cmpd="sng" algn="ctr">
                      <a:noFill/>
                    </a:lnT>
                    <a:lnB w="0" cap="flat" cmpd="sng" algn="ctr">
                      <a:noFill/>
                    </a:lnB>
                    <a:solidFill>
                      <a:schemeClr val="tx1"/>
                    </a:solidFill>
                  </a:tcPr>
                </a:tc>
              </a:tr>
            </a:tbl>
          </a:graphicData>
        </a:graphic>
      </p:graphicFrame>
      <p:sp>
        <p:nvSpPr>
          <p:cNvPr id="17" name="Text 14"/>
          <p:cNvSpPr txBox="1"/>
          <p:nvPr/>
        </p:nvSpPr>
        <p:spPr>
          <a:xfrm>
            <a:off x="6583680" y="3794760"/>
            <a:ext cx="5059375"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Chronological split of 2011-11</a:t>
            </a:r>
            <a:endParaRPr lang="en-US" sz="1600" dirty="0"/>
          </a:p>
        </p:txBody>
      </p:sp>
      <p:sp>
        <p:nvSpPr>
          <p:cNvPr id="18" name="split-train"/>
          <p:cNvSpPr/>
          <p:nvPr/>
        </p:nvSpPr>
        <p:spPr>
          <a:xfrm>
            <a:off x="6583680" y="4297680"/>
            <a:ext cx="2420446" cy="566928"/>
          </a:xfrm>
          <a:prstGeom prst="rect">
            <a:avLst/>
          </a:prstGeom>
          <a:solidFill>
            <a:schemeClr val="accent2"/>
          </a:solidFill>
          <a:ln w="12700">
            <a:solidFill>
              <a:schemeClr val="accent2"/>
            </a:solidFill>
            <a:prstDash val="solid"/>
          </a:ln>
        </p:spPr>
      </p:sp>
      <p:sp>
        <p:nvSpPr>
          <p:cNvPr id="19" name="split-holdout"/>
          <p:cNvSpPr/>
          <p:nvPr/>
        </p:nvSpPr>
        <p:spPr>
          <a:xfrm>
            <a:off x="9004126" y="4297680"/>
            <a:ext cx="2638929" cy="566928"/>
          </a:xfrm>
          <a:prstGeom prst="rect">
            <a:avLst/>
          </a:prstGeom>
          <a:solidFill>
            <a:schemeClr val="accent1"/>
          </a:solidFill>
          <a:ln w="12700">
            <a:solidFill>
              <a:schemeClr val="accent1"/>
            </a:solidFill>
            <a:prstDash val="solid"/>
          </a:ln>
        </p:spPr>
      </p:sp>
      <p:sp>
        <p:nvSpPr>
          <p:cNvPr id="20" name="Text 17"/>
          <p:cNvSpPr txBox="1"/>
          <p:nvPr/>
        </p:nvSpPr>
        <p:spPr>
          <a:xfrm>
            <a:off x="6720840" y="4297680"/>
            <a:ext cx="2146126"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train · 1,130</a:t>
            </a:r>
            <a:endParaRPr lang="en-US" sz="1500" dirty="0"/>
          </a:p>
        </p:txBody>
      </p:sp>
      <p:sp>
        <p:nvSpPr>
          <p:cNvPr id="21" name="Text 18"/>
          <p:cNvSpPr txBox="1"/>
          <p:nvPr/>
        </p:nvSpPr>
        <p:spPr>
          <a:xfrm>
            <a:off x="9141286" y="4297680"/>
            <a:ext cx="2364609" cy="566928"/>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held-out · 1,232</a:t>
            </a:r>
            <a:endParaRPr lang="en-US" sz="1500" dirty="0"/>
          </a:p>
        </p:txBody>
      </p:sp>
      <p:sp>
        <p:nvSpPr>
          <p:cNvPr id="22" name="Text 19"/>
          <p:cNvSpPr txBox="1"/>
          <p:nvPr/>
        </p:nvSpPr>
        <p:spPr>
          <a:xfrm>
            <a:off x="6583680" y="4983480"/>
            <a:ext cx="2420446"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1–15 Nov: the player, heatmap and optimiser see these</a:t>
            </a:r>
            <a:endParaRPr lang="en-US" sz="1200" dirty="0"/>
          </a:p>
        </p:txBody>
      </p:sp>
      <p:sp>
        <p:nvSpPr>
          <p:cNvPr id="23" name="Text 20"/>
          <p:cNvSpPr txBox="1"/>
          <p:nvPr/>
        </p:nvSpPr>
        <p:spPr>
          <a:xfrm>
            <a:off x="9095566" y="4983480"/>
            <a:ext cx="2547489"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16–30 Nov: used only for scoring</a:t>
            </a:r>
            <a:endParaRPr lang="en-US" sz="1200" dirty="0"/>
          </a:p>
        </p:txBody>
      </p:sp>
      <p:sp>
        <p:nvSpPr>
          <p:cNvPr id="24" name="Text 21"/>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100" dirty="0">
                <a:solidFill>
                  <a:schemeClr val="bg2"/>
                </a:solidFill>
                <a:latin typeface="Calibri" pitchFamily="34" charset="0"/>
                <a:ea typeface="Calibri" pitchFamily="34" charset="-122"/>
                <a:cs typeface="Calibri" pitchFamily="34" charset="-120"/>
              </a:rPr>
              <a:t>Chen, D. (2019). Online Retail II. UCI Machine Learning Repository. https://doi.org/10.24432/C5CG6D. CC BY 4.0.</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A declared floor, walked only along aisles</a:t>
            </a:r>
            <a:endParaRPr lang="en-US" sz="3200" dirty="0"/>
          </a:p>
        </p:txBody>
      </p:sp>
      <p:pic>
        <p:nvPicPr>
          <p:cNvPr id="3" name="floorplan" descr="Floor plan generated from web/src/sim/layout.ts">    </p:cNvPr>
          <p:cNvPicPr>
            <a:picLocks noChangeAspect="1"/>
          </p:cNvPicPr>
          <p:nvPr/>
        </p:nvPicPr>
        <p:blipFill>
          <a:blip r:embed="rId1"/>
          <a:stretch>
            <a:fillRect/>
          </a:stretch>
        </p:blipFill>
        <p:spPr>
          <a:xfrm>
            <a:off x="548640" y="1280160"/>
            <a:ext cx="6171671" cy="4983480"/>
          </a:xfrm>
          <a:prstGeom prst="rect">
            <a:avLst/>
          </a:prstGeom>
        </p:spPr>
      </p:pic>
      <p:sp>
        <p:nvSpPr>
          <p:cNvPr id="4" name="Text 1"/>
          <p:cNvSpPr txBox="1"/>
          <p:nvPr/>
        </p:nvSpPr>
        <p:spPr>
          <a:xfrm>
            <a:off x="7131791" y="1325880"/>
            <a:ext cx="4511264"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100 slots</a:t>
            </a:r>
            <a:endParaRPr lang="en-US" sz="2600" dirty="0"/>
          </a:p>
        </p:txBody>
      </p:sp>
      <p:sp>
        <p:nvSpPr>
          <p:cNvPr id="5" name="Text 2"/>
          <p:cNvSpPr txBox="1"/>
          <p:nvPr/>
        </p:nvSpPr>
        <p:spPr>
          <a:xfrm>
            <a:off x="7131791" y="1828800"/>
            <a:ext cx="4511264"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5 aisles × 2 rack sides × 10 bays, one SKU per slot</a:t>
            </a:r>
            <a:endParaRPr lang="en-US" sz="1400" dirty="0"/>
          </a:p>
        </p:txBody>
      </p:sp>
      <p:sp>
        <p:nvSpPr>
          <p:cNvPr id="6" name="Text 3"/>
          <p:cNvSpPr txBox="1"/>
          <p:nvPr/>
        </p:nvSpPr>
        <p:spPr>
          <a:xfrm>
            <a:off x="7131791" y="2514600"/>
            <a:ext cx="4511264"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66 nodes · 73 edges</a:t>
            </a:r>
            <a:endParaRPr lang="en-US" sz="2600" dirty="0"/>
          </a:p>
        </p:txBody>
      </p:sp>
      <p:sp>
        <p:nvSpPr>
          <p:cNvPr id="7" name="Text 4"/>
          <p:cNvSpPr txBox="1"/>
          <p:nvPr/>
        </p:nvSpPr>
        <p:spPr>
          <a:xfrm>
            <a:off x="7131791" y="3017520"/>
            <a:ext cx="4511264"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the only places a picker can walk: no shortcuts through racks</a:t>
            </a:r>
            <a:endParaRPr lang="en-US" sz="1400" dirty="0"/>
          </a:p>
        </p:txBody>
      </p:sp>
      <p:sp>
        <p:nvSpPr>
          <p:cNvPr id="8" name="Text 5"/>
          <p:cNvSpPr txBox="1"/>
          <p:nvPr/>
        </p:nvSpPr>
        <p:spPr>
          <a:xfrm>
            <a:off x="7131791" y="3703320"/>
            <a:ext cx="4511264"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3 cross-aisles</a:t>
            </a:r>
            <a:endParaRPr lang="en-US" sz="2600" dirty="0"/>
          </a:p>
        </p:txBody>
      </p:sp>
      <p:sp>
        <p:nvSpPr>
          <p:cNvPr id="9" name="Text 6"/>
          <p:cNvSpPr txBox="1"/>
          <p:nvPr/>
        </p:nvSpPr>
        <p:spPr>
          <a:xfrm>
            <a:off x="7131791" y="4206240"/>
            <a:ext cx="4511264"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front, middle and back, 4.0 m wide; the dock sits on the front one</a:t>
            </a:r>
            <a:endParaRPr lang="en-US" sz="1400" dirty="0"/>
          </a:p>
        </p:txBody>
      </p:sp>
      <p:sp>
        <p:nvSpPr>
          <p:cNvPr id="10" name="Text 7"/>
          <p:cNvSpPr txBox="1"/>
          <p:nvPr/>
        </p:nvSpPr>
        <p:spPr>
          <a:xfrm>
            <a:off x="7131791" y="4892040"/>
            <a:ext cx="4511264"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1.2 m/s · 8 s/line</a:t>
            </a:r>
            <a:endParaRPr lang="en-US" sz="2600" dirty="0"/>
          </a:p>
        </p:txBody>
      </p:sp>
      <p:sp>
        <p:nvSpPr>
          <p:cNvPr id="11" name="Text 8"/>
          <p:cNvSpPr txBox="1"/>
          <p:nvPr/>
        </p:nvSpPr>
        <p:spPr>
          <a:xfrm>
            <a:off x="7131791" y="5394960"/>
            <a:ext cx="4511264" cy="5486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declared walking speed and pick time</a:t>
            </a:r>
            <a:endParaRPr lang="en-US" sz="1400" dirty="0"/>
          </a:p>
        </p:txBody>
      </p:sp>
      <p:sp>
        <p:nvSpPr>
          <p:cNvPr id="12" name="Text 9"/>
          <p:cNvSpPr txBox="1"/>
          <p:nvPr/>
        </p:nvSpPr>
        <p:spPr>
          <a:xfrm>
            <a:off x="7131791" y="5989320"/>
            <a:ext cx="4511264" cy="274320"/>
          </a:xfrm>
          <a:prstGeom prst="rect">
            <a:avLst/>
          </a:prstGeom>
          <a:noFill/>
          <a:ln/>
        </p:spPr>
        <p:txBody>
          <a:bodyPr wrap="square" lIns="0" tIns="0" rIns="0" bIns="0" rtlCol="0" anchor="t"/>
          <a:lstStyle/>
          <a:p>
            <a:pPr indent="0" marL="0">
              <a:buNone/>
            </a:pPr>
            <a:r>
              <a:rPr lang="en-US" sz="1000" i="1" dirty="0">
                <a:solidFill>
                  <a:schemeClr val="bg2"/>
                </a:solidFill>
                <a:latin typeface="Calibri" pitchFamily="34" charset="0"/>
                <a:ea typeface="Calibri" pitchFamily="34" charset="-122"/>
                <a:cs typeface="Calibri" pitchFamily="34" charset="-120"/>
              </a:rPr>
              <a:t>Diagram and numbers generated from web/src/sim/layout.ts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Every order is an exact tour on the aisle graph</a:t>
            </a:r>
            <a:endParaRPr lang="en-US" sz="3200" dirty="0"/>
          </a:p>
        </p:txBody>
      </p:sp>
      <p:sp>
        <p:nvSpPr>
          <p:cNvPr id="3" name="step-Order"/>
          <p:cNvSpPr/>
          <p:nvPr/>
        </p:nvSpPr>
        <p:spPr>
          <a:xfrm>
            <a:off x="548640" y="1508760"/>
            <a:ext cx="2377440" cy="1828800"/>
          </a:xfrm>
          <a:prstGeom prst="roundRect">
            <a:avLst>
              <a:gd name="adj" fmla="val 6000"/>
            </a:avLst>
          </a:prstGeom>
          <a:solidFill>
            <a:schemeClr val="accent5"/>
          </a:solidFill>
          <a:ln w="9525">
            <a:solidFill>
              <a:schemeClr val="accent6"/>
            </a:solidFill>
            <a:prstDash val="solid"/>
          </a:ln>
        </p:spPr>
      </p:sp>
      <p:sp>
        <p:nvSpPr>
          <p:cNvPr id="4" name="Shape 2"/>
          <p:cNvSpPr/>
          <p:nvPr/>
        </p:nvSpPr>
        <p:spPr>
          <a:xfrm>
            <a:off x="777240" y="1691640"/>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80160" y="1691640"/>
            <a:ext cx="1463040" cy="384048"/>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Order</a:t>
            </a:r>
            <a:endParaRPr lang="en-US" sz="2000" dirty="0"/>
          </a:p>
        </p:txBody>
      </p:sp>
      <p:sp>
        <p:nvSpPr>
          <p:cNvPr id="7" name="Text 5"/>
          <p:cNvSpPr txBox="1"/>
          <p:nvPr/>
        </p:nvSpPr>
        <p:spPr>
          <a:xfrm>
            <a:off x="777240" y="2240280"/>
            <a:ext cx="1920240" cy="10058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 real invoice and its lines</a:t>
            </a:r>
            <a:endParaRPr lang="en-US" sz="1400" dirty="0"/>
          </a:p>
        </p:txBody>
      </p:sp>
      <p:sp>
        <p:nvSpPr>
          <p:cNvPr id="8" name="Shape 6"/>
          <p:cNvSpPr/>
          <p:nvPr/>
        </p:nvSpPr>
        <p:spPr>
          <a:xfrm>
            <a:off x="2999232" y="2423160"/>
            <a:ext cx="381914" cy="914"/>
          </a:xfrm>
          <a:prstGeom prst="line">
            <a:avLst/>
          </a:prstGeom>
          <a:noFill/>
          <a:ln w="19050">
            <a:solidFill>
              <a:schemeClr val="bg2"/>
            </a:solidFill>
            <a:prstDash val="solid"/>
            <a:tailEnd type="triangle"/>
          </a:ln>
        </p:spPr>
      </p:sp>
      <p:sp>
        <p:nvSpPr>
          <p:cNvPr id="9" name="step-Stops"/>
          <p:cNvSpPr/>
          <p:nvPr/>
        </p:nvSpPr>
        <p:spPr>
          <a:xfrm>
            <a:off x="3454298" y="1508760"/>
            <a:ext cx="2377440" cy="1828800"/>
          </a:xfrm>
          <a:prstGeom prst="roundRect">
            <a:avLst>
              <a:gd name="adj" fmla="val 6000"/>
            </a:avLst>
          </a:prstGeom>
          <a:solidFill>
            <a:schemeClr val="accent5"/>
          </a:solidFill>
          <a:ln w="9525">
            <a:solidFill>
              <a:schemeClr val="accent6"/>
            </a:solidFill>
            <a:prstDash val="solid"/>
          </a:ln>
        </p:spPr>
      </p:sp>
      <p:sp>
        <p:nvSpPr>
          <p:cNvPr id="10" name="Shape 8"/>
          <p:cNvSpPr/>
          <p:nvPr/>
        </p:nvSpPr>
        <p:spPr>
          <a:xfrm>
            <a:off x="3682898" y="169164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3682898"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185818" y="1691640"/>
            <a:ext cx="1463040" cy="384048"/>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Stops</a:t>
            </a:r>
            <a:endParaRPr lang="en-US" sz="2000" dirty="0"/>
          </a:p>
        </p:txBody>
      </p:sp>
      <p:sp>
        <p:nvSpPr>
          <p:cNvPr id="13" name="Text 11"/>
          <p:cNvSpPr txBox="1"/>
          <p:nvPr/>
        </p:nvSpPr>
        <p:spPr>
          <a:xfrm>
            <a:off x="3682898" y="2240280"/>
            <a:ext cx="1920240" cy="10058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the distinct bay nodes of its products' slots</a:t>
            </a:r>
            <a:endParaRPr lang="en-US" sz="1400" dirty="0"/>
          </a:p>
        </p:txBody>
      </p:sp>
      <p:sp>
        <p:nvSpPr>
          <p:cNvPr id="14" name="Shape 12"/>
          <p:cNvSpPr/>
          <p:nvPr/>
        </p:nvSpPr>
        <p:spPr>
          <a:xfrm>
            <a:off x="5904890" y="2423160"/>
            <a:ext cx="381914" cy="914"/>
          </a:xfrm>
          <a:prstGeom prst="line">
            <a:avLst/>
          </a:prstGeom>
          <a:noFill/>
          <a:ln w="19050">
            <a:solidFill>
              <a:schemeClr val="bg2"/>
            </a:solidFill>
            <a:prstDash val="solid"/>
            <a:tailEnd type="triangle"/>
          </a:ln>
        </p:spPr>
      </p:sp>
      <p:sp>
        <p:nvSpPr>
          <p:cNvPr id="15" name="step-Tour"/>
          <p:cNvSpPr/>
          <p:nvPr/>
        </p:nvSpPr>
        <p:spPr>
          <a:xfrm>
            <a:off x="6359957" y="1508760"/>
            <a:ext cx="2377440" cy="1828800"/>
          </a:xfrm>
          <a:prstGeom prst="roundRect">
            <a:avLst>
              <a:gd name="adj" fmla="val 6000"/>
            </a:avLst>
          </a:prstGeom>
          <a:solidFill>
            <a:schemeClr val="accent5"/>
          </a:solidFill>
          <a:ln w="9525">
            <a:solidFill>
              <a:schemeClr val="accent6"/>
            </a:solidFill>
            <a:prstDash val="solid"/>
          </a:ln>
        </p:spPr>
      </p:sp>
      <p:sp>
        <p:nvSpPr>
          <p:cNvPr id="16" name="Shape 14"/>
          <p:cNvSpPr/>
          <p:nvPr/>
        </p:nvSpPr>
        <p:spPr>
          <a:xfrm>
            <a:off x="6588557" y="1691640"/>
            <a:ext cx="384048" cy="384048"/>
          </a:xfrm>
          <a:prstGeom prst="ellipse">
            <a:avLst/>
          </a:prstGeom>
          <a:solidFill>
            <a:schemeClr val="accent2"/>
          </a:solidFill>
          <a:ln w="12700">
            <a:solidFill>
              <a:schemeClr val="accent2"/>
            </a:solidFill>
            <a:prstDash val="solid"/>
          </a:ln>
        </p:spPr>
      </p:sp>
      <p:sp>
        <p:nvSpPr>
          <p:cNvPr id="17" name="Text 15"/>
          <p:cNvSpPr txBox="1"/>
          <p:nvPr/>
        </p:nvSpPr>
        <p:spPr>
          <a:xfrm>
            <a:off x="6588557"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7091477" y="1691640"/>
            <a:ext cx="1463040" cy="384048"/>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Tour</a:t>
            </a:r>
            <a:endParaRPr lang="en-US" sz="2000" dirty="0"/>
          </a:p>
        </p:txBody>
      </p:sp>
      <p:sp>
        <p:nvSpPr>
          <p:cNvPr id="19" name="Text 17"/>
          <p:cNvSpPr txBox="1"/>
          <p:nvPr/>
        </p:nvSpPr>
        <p:spPr>
          <a:xfrm>
            <a:off x="6588557" y="2240280"/>
            <a:ext cx="1920240" cy="10058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Held–Karp, exact up to 11 stops; NN + 2-opt above, flagged</a:t>
            </a:r>
            <a:endParaRPr lang="en-US" sz="1400" dirty="0"/>
          </a:p>
        </p:txBody>
      </p:sp>
      <p:sp>
        <p:nvSpPr>
          <p:cNvPr id="20" name="Shape 18"/>
          <p:cNvSpPr/>
          <p:nvPr/>
        </p:nvSpPr>
        <p:spPr>
          <a:xfrm>
            <a:off x="8810549" y="2423160"/>
            <a:ext cx="381914" cy="914"/>
          </a:xfrm>
          <a:prstGeom prst="line">
            <a:avLst/>
          </a:prstGeom>
          <a:noFill/>
          <a:ln w="19050">
            <a:solidFill>
              <a:schemeClr val="bg2"/>
            </a:solidFill>
            <a:prstDash val="solid"/>
            <a:tailEnd type="triangle"/>
          </a:ln>
        </p:spPr>
      </p:sp>
      <p:sp>
        <p:nvSpPr>
          <p:cNvPr id="21" name="step-Score"/>
          <p:cNvSpPr/>
          <p:nvPr/>
        </p:nvSpPr>
        <p:spPr>
          <a:xfrm>
            <a:off x="9265615" y="1508760"/>
            <a:ext cx="2377440" cy="1828800"/>
          </a:xfrm>
          <a:prstGeom prst="roundRect">
            <a:avLst>
              <a:gd name="adj" fmla="val 6000"/>
            </a:avLst>
          </a:prstGeom>
          <a:solidFill>
            <a:schemeClr val="accent5"/>
          </a:solidFill>
          <a:ln w="9525">
            <a:solidFill>
              <a:schemeClr val="accent6"/>
            </a:solidFill>
            <a:prstDash val="solid"/>
          </a:ln>
        </p:spPr>
      </p:sp>
      <p:sp>
        <p:nvSpPr>
          <p:cNvPr id="22" name="Shape 20"/>
          <p:cNvSpPr/>
          <p:nvPr/>
        </p:nvSpPr>
        <p:spPr>
          <a:xfrm>
            <a:off x="9494215" y="1691640"/>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9494215"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9997135" y="1691640"/>
            <a:ext cx="1463040" cy="384048"/>
          </a:xfrm>
          <a:prstGeom prst="rect">
            <a:avLst/>
          </a:prstGeom>
          <a:noFill/>
          <a:ln/>
        </p:spPr>
        <p:txBody>
          <a:bodyPr wrap="square" lIns="0" tIns="0" rIns="0" bIns="0" rtlCol="0" anchor="ctr"/>
          <a:lstStyle/>
          <a:p>
            <a:pPr indent="0" marL="0">
              <a:buNone/>
            </a:pPr>
            <a:r>
              <a:rPr lang="en-US" sz="2000" b="1" dirty="0">
                <a:solidFill>
                  <a:schemeClr val="bg1"/>
                </a:solidFill>
                <a:latin typeface="Arial" pitchFamily="34" charset="0"/>
                <a:ea typeface="Arial" pitchFamily="34" charset="-122"/>
                <a:cs typeface="Arial" pitchFamily="34" charset="-120"/>
              </a:rPr>
              <a:t>Score</a:t>
            </a:r>
            <a:endParaRPr lang="en-US" sz="2000" dirty="0"/>
          </a:p>
        </p:txBody>
      </p:sp>
      <p:sp>
        <p:nvSpPr>
          <p:cNvPr id="25" name="Text 23"/>
          <p:cNvSpPr txBox="1"/>
          <p:nvPr/>
        </p:nvSpPr>
        <p:spPr>
          <a:xfrm>
            <a:off x="9494215" y="2240280"/>
            <a:ext cx="1920240" cy="10058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path expanded edge by edge; seconds = m / 1.2 + 8 × lines</a:t>
            </a:r>
            <a:endParaRPr lang="en-US" sz="1400" dirty="0"/>
          </a:p>
        </p:txBody>
      </p:sp>
      <p:sp>
        <p:nvSpPr>
          <p:cNvPr id="26" name="card-Held–Karp dynamic programming"/>
          <p:cNvSpPr/>
          <p:nvPr/>
        </p:nvSpPr>
        <p:spPr>
          <a:xfrm>
            <a:off x="548640" y="3703320"/>
            <a:ext cx="5364328" cy="2423160"/>
          </a:xfrm>
          <a:prstGeom prst="roundRect">
            <a:avLst>
              <a:gd name="adj" fmla="val 4528"/>
            </a:avLst>
          </a:prstGeom>
          <a:solidFill>
            <a:schemeClr val="tx2"/>
          </a:solidFill>
          <a:ln w="9525">
            <a:solidFill>
              <a:schemeClr val="accent6"/>
            </a:solidFill>
            <a:prstDash val="solid"/>
          </a:ln>
        </p:spPr>
      </p:sp>
      <p:sp>
        <p:nvSpPr>
          <p:cNvPr id="27" name="Shape 25"/>
          <p:cNvSpPr/>
          <p:nvPr/>
        </p:nvSpPr>
        <p:spPr>
          <a:xfrm>
            <a:off x="822960" y="3977640"/>
            <a:ext cx="384048" cy="384048"/>
          </a:xfrm>
          <a:prstGeom prst="ellipse">
            <a:avLst/>
          </a:prstGeom>
          <a:solidFill>
            <a:schemeClr val="accent2"/>
          </a:solidFill>
          <a:ln w="12700">
            <a:solidFill>
              <a:schemeClr val="accent2"/>
            </a:solidFill>
            <a:prstDash val="solid"/>
          </a:ln>
        </p:spPr>
      </p:sp>
      <p:sp>
        <p:nvSpPr>
          <p:cNvPr id="28" name="Text 26"/>
          <p:cNvSpPr txBox="1"/>
          <p:nvPr/>
        </p:nvSpPr>
        <p:spPr>
          <a:xfrm>
            <a:off x="822960" y="3977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HK</a:t>
            </a:r>
            <a:endParaRPr lang="en-US" sz="1400" dirty="0"/>
          </a:p>
        </p:txBody>
      </p:sp>
      <p:sp>
        <p:nvSpPr>
          <p:cNvPr id="29" name="Text 27"/>
          <p:cNvSpPr txBox="1"/>
          <p:nvPr/>
        </p:nvSpPr>
        <p:spPr>
          <a:xfrm>
            <a:off x="1325880" y="39776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Held–Karp dynamic programming</a:t>
            </a:r>
            <a:endParaRPr lang="en-US" sz="1900" dirty="0"/>
          </a:p>
        </p:txBody>
      </p:sp>
      <p:sp>
        <p:nvSpPr>
          <p:cNvPr id="30" name="Text 28"/>
          <p:cNvSpPr txBox="1"/>
          <p:nvPr/>
        </p:nvSpPr>
        <p:spPr>
          <a:xfrm>
            <a:off x="822960" y="4572000"/>
            <a:ext cx="4815688" cy="132588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dp[mask][j] is the shortest walk from the dock through exactly the stops in mask, ending at j. That is O(2ⁿ·n²): about 250k steps at n = 11, solved once per stop set and cached. The share of metres routed exactly is reported.</a:t>
            </a:r>
            <a:endParaRPr lang="en-US" sz="1500" dirty="0"/>
          </a:p>
        </p:txBody>
      </p:sp>
      <p:sp>
        <p:nvSpPr>
          <p:cNvPr id="31" name="card-S-shape ablation"/>
          <p:cNvSpPr/>
          <p:nvPr/>
        </p:nvSpPr>
        <p:spPr>
          <a:xfrm>
            <a:off x="6278728" y="3703320"/>
            <a:ext cx="5364328" cy="2423160"/>
          </a:xfrm>
          <a:prstGeom prst="roundRect">
            <a:avLst>
              <a:gd name="adj" fmla="val 4528"/>
            </a:avLst>
          </a:prstGeom>
          <a:solidFill>
            <a:schemeClr val="tx2"/>
          </a:solidFill>
          <a:ln w="9525">
            <a:solidFill>
              <a:schemeClr val="accent6"/>
            </a:solidFill>
            <a:prstDash val="solid"/>
          </a:ln>
        </p:spPr>
      </p:sp>
      <p:sp>
        <p:nvSpPr>
          <p:cNvPr id="32" name="Shape 30"/>
          <p:cNvSpPr/>
          <p:nvPr/>
        </p:nvSpPr>
        <p:spPr>
          <a:xfrm>
            <a:off x="6553048" y="3977640"/>
            <a:ext cx="384048" cy="384048"/>
          </a:xfrm>
          <a:prstGeom prst="ellipse">
            <a:avLst/>
          </a:prstGeom>
          <a:solidFill>
            <a:schemeClr val="accent1"/>
          </a:solidFill>
          <a:ln w="12700">
            <a:solidFill>
              <a:schemeClr val="accent1"/>
            </a:solidFill>
            <a:prstDash val="solid"/>
          </a:ln>
        </p:spPr>
      </p:sp>
      <p:sp>
        <p:nvSpPr>
          <p:cNvPr id="33" name="Text 31"/>
          <p:cNvSpPr txBox="1"/>
          <p:nvPr/>
        </p:nvSpPr>
        <p:spPr>
          <a:xfrm>
            <a:off x="6553048" y="3977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a:t>
            </a:r>
            <a:endParaRPr lang="en-US" sz="1400" dirty="0"/>
          </a:p>
        </p:txBody>
      </p:sp>
      <p:sp>
        <p:nvSpPr>
          <p:cNvPr id="34" name="Text 32"/>
          <p:cNvSpPr txBox="1"/>
          <p:nvPr/>
        </p:nvSpPr>
        <p:spPr>
          <a:xfrm>
            <a:off x="7055968" y="39776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S-shape ablation</a:t>
            </a:r>
            <a:endParaRPr lang="en-US" sz="1900" dirty="0"/>
          </a:p>
        </p:txBody>
      </p:sp>
      <p:sp>
        <p:nvSpPr>
          <p:cNvPr id="35" name="Text 33"/>
          <p:cNvSpPr txBox="1"/>
          <p:nvPr/>
        </p:nvSpPr>
        <p:spPr>
          <a:xfrm>
            <a:off x="6553048" y="4572000"/>
            <a:ext cx="4815688" cy="132588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What a human picker usually does: walk every aisle that has a pick, end to end. Toggling it separates the gain from routing from the gain from slotting. It can never beat the exact tour, and a test checks that.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Re-slot, replay, race the ghost</a:t>
            </a:r>
            <a:endParaRPr lang="en-US" sz="3200" dirty="0"/>
          </a:p>
        </p:txBody>
      </p:sp>
      <p:pic>
        <p:nvPicPr>
          <p:cNvPr id="3" name="shot-race" descr="Race: ghost = Baseline, solid = the SA layout or yours, over the same held-out orders">    </p:cNvPr>
          <p:cNvPicPr>
            <a:picLocks noChangeAspect="1"/>
          </p:cNvPicPr>
          <p:nvPr/>
        </p:nvPicPr>
        <p:blipFill>
          <a:blip r:embed="rId1"/>
          <a:srcRect l="0" r="0" t="0" b="0"/>
          <a:stretch/>
        </p:blipFill>
        <p:spPr>
          <a:xfrm>
            <a:off x="548640" y="1463040"/>
            <a:ext cx="3454298" cy="1943043"/>
          </a:xfrm>
          <a:prstGeom prst="rect">
            <a:avLst/>
          </a:prstGeom>
        </p:spPr>
      </p:pic>
      <p:sp>
        <p:nvSpPr>
          <p:cNvPr id="4" name="Text 1"/>
          <p:cNvSpPr txBox="1"/>
          <p:nvPr/>
        </p:nvSpPr>
        <p:spPr>
          <a:xfrm>
            <a:off x="548640" y="3543243"/>
            <a:ext cx="3454298" cy="7772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Race: ghost = Baseline, solid = the SA layout or yours, over the same held-out orders</a:t>
            </a:r>
            <a:endParaRPr lang="en-US" sz="1400" dirty="0"/>
          </a:p>
        </p:txBody>
      </p:sp>
      <p:pic>
        <p:nvPicPr>
          <p:cNvPr id="5" name="shot-slot" descr="Slot: click a carton, click another to swap, in 3D or on the 2D map; train and held-out re-score">    </p:cNvPr>
          <p:cNvPicPr>
            <a:picLocks noChangeAspect="1"/>
          </p:cNvPicPr>
          <p:nvPr/>
        </p:nvPicPr>
        <p:blipFill>
          <a:blip r:embed="rId2"/>
          <a:srcRect l="0" r="0" t="0" b="0"/>
          <a:stretch/>
        </p:blipFill>
        <p:spPr>
          <a:xfrm>
            <a:off x="4368698" y="1463040"/>
            <a:ext cx="3454298" cy="1943043"/>
          </a:xfrm>
          <a:prstGeom prst="rect">
            <a:avLst/>
          </a:prstGeom>
        </p:spPr>
      </p:pic>
      <p:sp>
        <p:nvSpPr>
          <p:cNvPr id="6" name="Text 2"/>
          <p:cNvSpPr txBox="1"/>
          <p:nvPr/>
        </p:nvSpPr>
        <p:spPr>
          <a:xfrm>
            <a:off x="4368698" y="3543243"/>
            <a:ext cx="3454298" cy="7772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Slot: click a carton, click another to swap, in 3D or on the 2D map; train and held-out re-score</a:t>
            </a:r>
            <a:endParaRPr lang="en-US" sz="1400" dirty="0"/>
          </a:p>
        </p:txBody>
      </p:sp>
      <p:pic>
        <p:nvPicPr>
          <p:cNvPr id="7" name="shot-anneal" descr="Anneal: the optimiser runs live in a worker, and cartons fly as swaps are accepted">    </p:cNvPr>
          <p:cNvPicPr>
            <a:picLocks noChangeAspect="1"/>
          </p:cNvPicPr>
          <p:nvPr/>
        </p:nvPicPr>
        <p:blipFill>
          <a:blip r:embed="rId3"/>
          <a:srcRect l="0" r="0" t="0" b="0"/>
          <a:stretch/>
        </p:blipFill>
        <p:spPr>
          <a:xfrm>
            <a:off x="8188757" y="1463040"/>
            <a:ext cx="3454298" cy="1943043"/>
          </a:xfrm>
          <a:prstGeom prst="rect">
            <a:avLst/>
          </a:prstGeom>
        </p:spPr>
      </p:pic>
      <p:sp>
        <p:nvSpPr>
          <p:cNvPr id="8" name="Text 3"/>
          <p:cNvSpPr txBox="1"/>
          <p:nvPr/>
        </p:nvSpPr>
        <p:spPr>
          <a:xfrm>
            <a:off x="8188757" y="3543243"/>
            <a:ext cx="3454298" cy="77724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Anneal: the optimiser runs live in a worker, and cartons fly as swaps are accepted</a:t>
            </a:r>
            <a:endParaRPr lang="en-US" sz="1400" dirty="0"/>
          </a:p>
        </p:txBody>
      </p:sp>
      <p:sp>
        <p:nvSpPr>
          <p:cNvPr id="9" name="mode-Replay"/>
          <p:cNvSpPr/>
          <p:nvPr/>
        </p:nvSpPr>
        <p:spPr>
          <a:xfrm>
            <a:off x="548640" y="5212080"/>
            <a:ext cx="1889699" cy="548640"/>
          </a:xfrm>
          <a:prstGeom prst="roundRect">
            <a:avLst>
              <a:gd name="adj" fmla="val 50000"/>
            </a:avLst>
          </a:prstGeom>
          <a:solidFill>
            <a:schemeClr val="accent5"/>
          </a:solidFill>
          <a:ln w="9525">
            <a:solidFill>
              <a:schemeClr val="accent6"/>
            </a:solidFill>
            <a:prstDash val="solid"/>
          </a:ln>
        </p:spPr>
      </p:sp>
      <p:sp>
        <p:nvSpPr>
          <p:cNvPr id="10" name="Text 5"/>
          <p:cNvSpPr txBox="1"/>
          <p:nvPr/>
        </p:nvSpPr>
        <p:spPr>
          <a:xfrm>
            <a:off x="548640" y="5212080"/>
            <a:ext cx="1889699"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Replay</a:t>
            </a:r>
            <a:endParaRPr lang="en-US" sz="1600" dirty="0"/>
          </a:p>
        </p:txBody>
      </p:sp>
      <p:sp>
        <p:nvSpPr>
          <p:cNvPr id="11" name="Shape 6"/>
          <p:cNvSpPr/>
          <p:nvPr/>
        </p:nvSpPr>
        <p:spPr>
          <a:xfrm>
            <a:off x="2484059" y="5486400"/>
            <a:ext cx="320040" cy="914"/>
          </a:xfrm>
          <a:prstGeom prst="line">
            <a:avLst/>
          </a:prstGeom>
          <a:noFill/>
          <a:ln w="19050">
            <a:solidFill>
              <a:schemeClr val="bg2"/>
            </a:solidFill>
            <a:prstDash val="solid"/>
            <a:tailEnd type="triangle"/>
          </a:ln>
        </p:spPr>
      </p:sp>
      <p:sp>
        <p:nvSpPr>
          <p:cNvPr id="12" name="mode-Slot"/>
          <p:cNvSpPr/>
          <p:nvPr/>
        </p:nvSpPr>
        <p:spPr>
          <a:xfrm>
            <a:off x="2849819" y="5212080"/>
            <a:ext cx="1889699" cy="548640"/>
          </a:xfrm>
          <a:prstGeom prst="roundRect">
            <a:avLst>
              <a:gd name="adj" fmla="val 50000"/>
            </a:avLst>
          </a:prstGeom>
          <a:solidFill>
            <a:schemeClr val="accent5"/>
          </a:solidFill>
          <a:ln w="9525">
            <a:solidFill>
              <a:schemeClr val="accent6"/>
            </a:solidFill>
            <a:prstDash val="solid"/>
          </a:ln>
        </p:spPr>
      </p:sp>
      <p:sp>
        <p:nvSpPr>
          <p:cNvPr id="13" name="Text 8"/>
          <p:cNvSpPr txBox="1"/>
          <p:nvPr/>
        </p:nvSpPr>
        <p:spPr>
          <a:xfrm>
            <a:off x="2849819" y="5212080"/>
            <a:ext cx="1889699"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Slot</a:t>
            </a:r>
            <a:endParaRPr lang="en-US" sz="1600" dirty="0"/>
          </a:p>
        </p:txBody>
      </p:sp>
      <p:sp>
        <p:nvSpPr>
          <p:cNvPr id="14" name="Shape 9"/>
          <p:cNvSpPr/>
          <p:nvPr/>
        </p:nvSpPr>
        <p:spPr>
          <a:xfrm>
            <a:off x="4785238" y="5486400"/>
            <a:ext cx="320040" cy="914"/>
          </a:xfrm>
          <a:prstGeom prst="line">
            <a:avLst/>
          </a:prstGeom>
          <a:noFill/>
          <a:ln w="19050">
            <a:solidFill>
              <a:schemeClr val="bg2"/>
            </a:solidFill>
            <a:prstDash val="solid"/>
            <a:tailEnd type="triangle"/>
          </a:ln>
        </p:spPr>
      </p:sp>
      <p:sp>
        <p:nvSpPr>
          <p:cNvPr id="15" name="mode-Race"/>
          <p:cNvSpPr/>
          <p:nvPr/>
        </p:nvSpPr>
        <p:spPr>
          <a:xfrm>
            <a:off x="5150998" y="5212080"/>
            <a:ext cx="1889699" cy="548640"/>
          </a:xfrm>
          <a:prstGeom prst="roundRect">
            <a:avLst>
              <a:gd name="adj" fmla="val 50000"/>
            </a:avLst>
          </a:prstGeom>
          <a:solidFill>
            <a:schemeClr val="accent1"/>
          </a:solidFill>
          <a:ln w="9525">
            <a:solidFill>
              <a:schemeClr val="accent6"/>
            </a:solidFill>
            <a:prstDash val="solid"/>
          </a:ln>
        </p:spPr>
      </p:sp>
      <p:sp>
        <p:nvSpPr>
          <p:cNvPr id="16" name="Text 11"/>
          <p:cNvSpPr txBox="1"/>
          <p:nvPr/>
        </p:nvSpPr>
        <p:spPr>
          <a:xfrm>
            <a:off x="5150998" y="5212080"/>
            <a:ext cx="1889699"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Race</a:t>
            </a:r>
            <a:endParaRPr lang="en-US" sz="1600" dirty="0"/>
          </a:p>
        </p:txBody>
      </p:sp>
      <p:sp>
        <p:nvSpPr>
          <p:cNvPr id="17" name="Shape 12"/>
          <p:cNvSpPr/>
          <p:nvPr/>
        </p:nvSpPr>
        <p:spPr>
          <a:xfrm>
            <a:off x="7086417" y="5486400"/>
            <a:ext cx="320040" cy="914"/>
          </a:xfrm>
          <a:prstGeom prst="line">
            <a:avLst/>
          </a:prstGeom>
          <a:noFill/>
          <a:ln w="19050">
            <a:solidFill>
              <a:schemeClr val="bg2"/>
            </a:solidFill>
            <a:prstDash val="solid"/>
            <a:tailEnd type="triangle"/>
          </a:ln>
        </p:spPr>
      </p:sp>
      <p:sp>
        <p:nvSpPr>
          <p:cNvPr id="18" name="mode-Anneal"/>
          <p:cNvSpPr/>
          <p:nvPr/>
        </p:nvSpPr>
        <p:spPr>
          <a:xfrm>
            <a:off x="7452177" y="5212080"/>
            <a:ext cx="1889699" cy="548640"/>
          </a:xfrm>
          <a:prstGeom prst="roundRect">
            <a:avLst>
              <a:gd name="adj" fmla="val 50000"/>
            </a:avLst>
          </a:prstGeom>
          <a:solidFill>
            <a:schemeClr val="accent5"/>
          </a:solidFill>
          <a:ln w="9525">
            <a:solidFill>
              <a:schemeClr val="accent6"/>
            </a:solidFill>
            <a:prstDash val="solid"/>
          </a:ln>
        </p:spPr>
      </p:sp>
      <p:sp>
        <p:nvSpPr>
          <p:cNvPr id="19" name="Text 14"/>
          <p:cNvSpPr txBox="1"/>
          <p:nvPr/>
        </p:nvSpPr>
        <p:spPr>
          <a:xfrm>
            <a:off x="7452177" y="5212080"/>
            <a:ext cx="1889699"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Anneal</a:t>
            </a:r>
            <a:endParaRPr lang="en-US" sz="1600" dirty="0"/>
          </a:p>
        </p:txBody>
      </p:sp>
      <p:sp>
        <p:nvSpPr>
          <p:cNvPr id="20" name="Shape 15"/>
          <p:cNvSpPr/>
          <p:nvPr/>
        </p:nvSpPr>
        <p:spPr>
          <a:xfrm>
            <a:off x="9387596" y="5486400"/>
            <a:ext cx="320040" cy="914"/>
          </a:xfrm>
          <a:prstGeom prst="line">
            <a:avLst/>
          </a:prstGeom>
          <a:noFill/>
          <a:ln w="19050">
            <a:solidFill>
              <a:schemeClr val="bg2"/>
            </a:solidFill>
            <a:prstDash val="solid"/>
            <a:tailEnd type="triangle"/>
          </a:ln>
        </p:spPr>
      </p:sp>
      <p:sp>
        <p:nvSpPr>
          <p:cNvPr id="21" name="mode-Evidence"/>
          <p:cNvSpPr/>
          <p:nvPr/>
        </p:nvSpPr>
        <p:spPr>
          <a:xfrm>
            <a:off x="9753356" y="5212080"/>
            <a:ext cx="1889699" cy="548640"/>
          </a:xfrm>
          <a:prstGeom prst="roundRect">
            <a:avLst>
              <a:gd name="adj" fmla="val 50000"/>
            </a:avLst>
          </a:prstGeom>
          <a:solidFill>
            <a:schemeClr val="accent5"/>
          </a:solidFill>
          <a:ln w="9525">
            <a:solidFill>
              <a:schemeClr val="accent6"/>
            </a:solidFill>
            <a:prstDash val="solid"/>
          </a:ln>
        </p:spPr>
      </p:sp>
      <p:sp>
        <p:nvSpPr>
          <p:cNvPr id="22" name="Text 17"/>
          <p:cNvSpPr txBox="1"/>
          <p:nvPr/>
        </p:nvSpPr>
        <p:spPr>
          <a:xfrm>
            <a:off x="9753356" y="5212080"/>
            <a:ext cx="1889699"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Evidence</a:t>
            </a:r>
            <a:endParaRPr lang="en-US" sz="1600" dirty="0"/>
          </a:p>
        </p:txBody>
      </p:sp>
      <p:sp>
        <p:nvSpPr>
          <p:cNvPr id="23" name="Text 18"/>
          <p:cNvSpPr txBox="1"/>
          <p:nvPr/>
        </p:nvSpPr>
        <p:spPr>
          <a:xfrm>
            <a:off x="548640" y="5897880"/>
            <a:ext cx="11094415" cy="3200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Must-haves: replay with live distance and time counters · swap and re-score before / after · automatic fast-movers baseline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The opponent: simulated annealing</a:t>
            </a:r>
            <a:endParaRPr lang="en-US" sz="3200" dirty="0"/>
          </a:p>
        </p:txBody>
      </p:sp>
      <p:sp>
        <p:nvSpPr>
          <p:cNvPr id="3" name="sa-Swap"/>
          <p:cNvSpPr/>
          <p:nvPr/>
        </p:nvSpPr>
        <p:spPr>
          <a:xfrm>
            <a:off x="548640" y="1463040"/>
            <a:ext cx="4206240" cy="841248"/>
          </a:xfrm>
          <a:prstGeom prst="roundRect">
            <a:avLst>
              <a:gd name="adj" fmla="val 13043"/>
            </a:avLst>
          </a:prstGeom>
          <a:solidFill>
            <a:schemeClr val="accent5"/>
          </a:solidFill>
          <a:ln w="9525">
            <a:solidFill>
              <a:schemeClr val="accent6"/>
            </a:solidFill>
            <a:prstDash val="solid"/>
          </a:ln>
        </p:spPr>
      </p:sp>
      <p:sp>
        <p:nvSpPr>
          <p:cNvPr id="4" name="Shape 2"/>
          <p:cNvSpPr/>
          <p:nvPr/>
        </p:nvSpPr>
        <p:spPr>
          <a:xfrm>
            <a:off x="777240" y="169164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463040"/>
            <a:ext cx="3291840" cy="84124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Swap  </a:t>
            </a:r>
            <a:pPr indent="0" marL="0">
              <a:buNone/>
            </a:pPr>
            <a:r>
              <a:rPr lang="en-US" sz="1500" dirty="0">
                <a:solidFill>
                  <a:schemeClr val="bg2"/>
                </a:solidFill>
                <a:latin typeface="Calibri" pitchFamily="34" charset="0"/>
                <a:ea typeface="Calibri" pitchFamily="34" charset="-122"/>
                <a:cs typeface="Calibri" pitchFamily="34" charset="-120"/>
              </a:rPr>
              <a:t>two SKUs' slots</a:t>
            </a:r>
            <a:endParaRPr lang="en-US" sz="1500" dirty="0"/>
          </a:p>
        </p:txBody>
      </p:sp>
      <p:sp>
        <p:nvSpPr>
          <p:cNvPr id="7" name="sa-Re-route"/>
          <p:cNvSpPr/>
          <p:nvPr/>
        </p:nvSpPr>
        <p:spPr>
          <a:xfrm>
            <a:off x="548640" y="2487168"/>
            <a:ext cx="4206240" cy="841248"/>
          </a:xfrm>
          <a:prstGeom prst="roundRect">
            <a:avLst>
              <a:gd name="adj" fmla="val 13043"/>
            </a:avLst>
          </a:prstGeom>
          <a:solidFill>
            <a:schemeClr val="accent5"/>
          </a:solidFill>
          <a:ln w="9525">
            <a:solidFill>
              <a:schemeClr val="accent6"/>
            </a:solidFill>
            <a:prstDash val="solid"/>
          </a:ln>
        </p:spPr>
      </p:sp>
      <p:sp>
        <p:nvSpPr>
          <p:cNvPr id="8" name="Shape 6"/>
          <p:cNvSpPr/>
          <p:nvPr/>
        </p:nvSpPr>
        <p:spPr>
          <a:xfrm>
            <a:off x="777240" y="2715768"/>
            <a:ext cx="384048" cy="384048"/>
          </a:xfrm>
          <a:prstGeom prst="ellipse">
            <a:avLst/>
          </a:prstGeom>
          <a:solidFill>
            <a:schemeClr val="accent2"/>
          </a:solidFill>
          <a:ln w="12700">
            <a:solidFill>
              <a:schemeClr val="accent2"/>
            </a:solidFill>
            <a:prstDash val="solid"/>
          </a:ln>
        </p:spPr>
      </p:sp>
      <p:sp>
        <p:nvSpPr>
          <p:cNvPr id="9" name="Text 7"/>
          <p:cNvSpPr txBox="1"/>
          <p:nvPr/>
        </p:nvSpPr>
        <p:spPr>
          <a:xfrm>
            <a:off x="777240" y="271576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325880" y="2487168"/>
            <a:ext cx="3291840" cy="84124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Re-route  </a:t>
            </a:r>
            <a:pPr indent="0" marL="0">
              <a:buNone/>
            </a:pPr>
            <a:r>
              <a:rPr lang="en-US" sz="1500" dirty="0">
                <a:solidFill>
                  <a:schemeClr val="bg2"/>
                </a:solidFill>
                <a:latin typeface="Calibri" pitchFamily="34" charset="0"/>
                <a:ea typeface="Calibri" pitchFamily="34" charset="-122"/>
                <a:cs typeface="Calibri" pitchFamily="34" charset="-120"/>
              </a:rPr>
              <a:t>only the train orders that contain them</a:t>
            </a:r>
            <a:endParaRPr lang="en-US" sz="1500" dirty="0"/>
          </a:p>
        </p:txBody>
      </p:sp>
      <p:sp>
        <p:nvSpPr>
          <p:cNvPr id="11" name="sa-Accept"/>
          <p:cNvSpPr/>
          <p:nvPr/>
        </p:nvSpPr>
        <p:spPr>
          <a:xfrm>
            <a:off x="548640" y="3511296"/>
            <a:ext cx="4206240" cy="841248"/>
          </a:xfrm>
          <a:prstGeom prst="roundRect">
            <a:avLst>
              <a:gd name="adj" fmla="val 13043"/>
            </a:avLst>
          </a:prstGeom>
          <a:solidFill>
            <a:schemeClr val="accent5"/>
          </a:solidFill>
          <a:ln w="9525">
            <a:solidFill>
              <a:schemeClr val="accent6"/>
            </a:solidFill>
            <a:prstDash val="solid"/>
          </a:ln>
        </p:spPr>
      </p:sp>
      <p:sp>
        <p:nvSpPr>
          <p:cNvPr id="12" name="Shape 10"/>
          <p:cNvSpPr/>
          <p:nvPr/>
        </p:nvSpPr>
        <p:spPr>
          <a:xfrm>
            <a:off x="777240" y="3739896"/>
            <a:ext cx="384048" cy="384048"/>
          </a:xfrm>
          <a:prstGeom prst="ellipse">
            <a:avLst/>
          </a:prstGeom>
          <a:solidFill>
            <a:schemeClr val="accent2"/>
          </a:solidFill>
          <a:ln w="12700">
            <a:solidFill>
              <a:schemeClr val="accent2"/>
            </a:solidFill>
            <a:prstDash val="solid"/>
          </a:ln>
        </p:spPr>
      </p:sp>
      <p:sp>
        <p:nvSpPr>
          <p:cNvPr id="13" name="Text 11"/>
          <p:cNvSpPr txBox="1"/>
          <p:nvPr/>
        </p:nvSpPr>
        <p:spPr>
          <a:xfrm>
            <a:off x="777240" y="37398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25880" y="3511296"/>
            <a:ext cx="3291840" cy="84124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Accept  </a:t>
            </a:r>
            <a:pPr indent="0" marL="0">
              <a:buNone/>
            </a:pPr>
            <a:r>
              <a:rPr lang="en-US" sz="1500" dirty="0">
                <a:solidFill>
                  <a:schemeClr val="bg2"/>
                </a:solidFill>
                <a:latin typeface="Calibri" pitchFamily="34" charset="0"/>
                <a:ea typeface="Calibri" pitchFamily="34" charset="-122"/>
                <a:cs typeface="Calibri" pitchFamily="34" charset="-120"/>
              </a:rPr>
              <a:t>if shorter, else with probability exp(−Δ/T)</a:t>
            </a:r>
            <a:endParaRPr lang="en-US" sz="1500" dirty="0"/>
          </a:p>
        </p:txBody>
      </p:sp>
      <p:sp>
        <p:nvSpPr>
          <p:cNvPr id="15" name="sa-Cool"/>
          <p:cNvSpPr/>
          <p:nvPr/>
        </p:nvSpPr>
        <p:spPr>
          <a:xfrm>
            <a:off x="548640" y="4535424"/>
            <a:ext cx="4206240" cy="841248"/>
          </a:xfrm>
          <a:prstGeom prst="roundRect">
            <a:avLst>
              <a:gd name="adj" fmla="val 13043"/>
            </a:avLst>
          </a:prstGeom>
          <a:solidFill>
            <a:schemeClr val="accent5"/>
          </a:solidFill>
          <a:ln w="9525">
            <a:solidFill>
              <a:schemeClr val="accent6"/>
            </a:solidFill>
            <a:prstDash val="solid"/>
          </a:ln>
        </p:spPr>
      </p:sp>
      <p:sp>
        <p:nvSpPr>
          <p:cNvPr id="16" name="Shape 14"/>
          <p:cNvSpPr/>
          <p:nvPr/>
        </p:nvSpPr>
        <p:spPr>
          <a:xfrm>
            <a:off x="777240" y="4764024"/>
            <a:ext cx="384048" cy="384048"/>
          </a:xfrm>
          <a:prstGeom prst="ellipse">
            <a:avLst/>
          </a:prstGeom>
          <a:solidFill>
            <a:schemeClr val="accent2"/>
          </a:solidFill>
          <a:ln w="12700">
            <a:solidFill>
              <a:schemeClr val="accent2"/>
            </a:solidFill>
            <a:prstDash val="solid"/>
          </a:ln>
        </p:spPr>
      </p:sp>
      <p:sp>
        <p:nvSpPr>
          <p:cNvPr id="17" name="Text 15"/>
          <p:cNvSpPr txBox="1"/>
          <p:nvPr/>
        </p:nvSpPr>
        <p:spPr>
          <a:xfrm>
            <a:off x="777240" y="476402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25880" y="4535424"/>
            <a:ext cx="3291840" cy="841248"/>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Cool  </a:t>
            </a:r>
            <a:pPr indent="0" marL="0">
              <a:buNone/>
            </a:pPr>
            <a:r>
              <a:rPr lang="en-US" sz="1500" dirty="0">
                <a:solidFill>
                  <a:schemeClr val="bg2"/>
                </a:solidFill>
                <a:latin typeface="Calibri" pitchFamily="34" charset="0"/>
                <a:ea typeface="Calibri" pitchFamily="34" charset="-122"/>
                <a:cs typeface="Calibri" pitchFamily="34" charset="-120"/>
              </a:rPr>
              <a:t>T from T₀ to T₀/1000 over the iteration budget</a:t>
            </a:r>
            <a:endParaRPr lang="en-US" sz="1500" dirty="0"/>
          </a:p>
        </p:txBody>
      </p:sp>
      <p:sp>
        <p:nvSpPr>
          <p:cNvPr id="19" name="Text 17"/>
          <p:cNvSpPr txBox="1"/>
          <p:nvPr/>
        </p:nvSpPr>
        <p:spPr>
          <a:xfrm>
            <a:off x="548640" y="5623560"/>
            <a:ext cx="4206240" cy="640080"/>
          </a:xfrm>
          <a:prstGeom prst="rect">
            <a:avLst/>
          </a:prstGeom>
          <a:noFill/>
          <a:ln/>
        </p:spPr>
        <p:txBody>
          <a:bodyPr wrap="square" lIns="0" tIns="0" rIns="0" bIns="0" rtlCol="0" anchor="t"/>
          <a:lstStyle/>
          <a:p>
            <a:pPr indent="0" marL="0">
              <a:buNone/>
            </a:pPr>
            <a:r>
              <a:rPr lang="en-US" sz="1300" i="1" dirty="0">
                <a:solidFill>
                  <a:schemeClr val="bg1"/>
                </a:solidFill>
                <a:latin typeface="Calibri" pitchFamily="34" charset="0"/>
                <a:ea typeface="Calibri" pitchFamily="34" charset="-122"/>
                <a:cs typeface="Calibri" pitchFamily="34" charset="-120"/>
              </a:rPr>
              <a:t>Seed 42 × 30,000 iterations gives the same layout on any machine. The optimiser sees train orders only.</a:t>
            </a:r>
            <a:endParaRPr lang="en-US" sz="1300" dirty="0"/>
          </a:p>
        </p:txBody>
      </p:sp>
      <p:graphicFrame>
        <p:nvGraphicFramePr>
          <p:cNvPr id="20" name="Chart 0" descr=""/>
          <p:cNvGraphicFramePr/>
          <p:nvPr/>
        </p:nvGraphicFramePr>
        <p:xfrm>
          <a:off x="5120640" y="1371600"/>
          <a:ext cx="6522415"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One simulator: browser, worker and eval</a:t>
            </a:r>
            <a:endParaRPr lang="en-US" sz="3200" dirty="0"/>
          </a:p>
        </p:txBody>
      </p:sp>
      <p:sp>
        <p:nvSpPr>
          <p:cNvPr id="3" name="box-online_retail_II.xlsx"/>
          <p:cNvSpPr/>
          <p:nvPr/>
        </p:nvSpPr>
        <p:spPr>
          <a:xfrm>
            <a:off x="548640" y="1371600"/>
            <a:ext cx="2377440" cy="777240"/>
          </a:xfrm>
          <a:prstGeom prst="roundRect">
            <a:avLst>
              <a:gd name="adj" fmla="val 9412"/>
            </a:avLst>
          </a:prstGeom>
          <a:solidFill>
            <a:schemeClr val="accent5"/>
          </a:solidFill>
          <a:ln w="12700">
            <a:solidFill>
              <a:schemeClr val="accent6"/>
            </a:solidFill>
            <a:prstDash val="solid"/>
          </a:ln>
        </p:spPr>
      </p:sp>
      <p:sp>
        <p:nvSpPr>
          <p:cNvPr id="4" name="Text 2"/>
          <p:cNvSpPr txBox="1"/>
          <p:nvPr/>
        </p:nvSpPr>
        <p:spPr>
          <a:xfrm>
            <a:off x="640080" y="137160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online_retail_II.xlsx</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UCI · CC BY 4.0</a:t>
            </a:r>
            <a:endParaRPr lang="en-US" sz="1500" dirty="0"/>
          </a:p>
        </p:txBody>
      </p:sp>
      <p:sp>
        <p:nvSpPr>
          <p:cNvPr id="5" name="box-data/prepare.py"/>
          <p:cNvSpPr/>
          <p:nvPr/>
        </p:nvSpPr>
        <p:spPr>
          <a:xfrm>
            <a:off x="3474720" y="1371600"/>
            <a:ext cx="2377440" cy="777240"/>
          </a:xfrm>
          <a:prstGeom prst="roundRect">
            <a:avLst>
              <a:gd name="adj" fmla="val 9412"/>
            </a:avLst>
          </a:prstGeom>
          <a:solidFill>
            <a:schemeClr val="accent5"/>
          </a:solidFill>
          <a:ln w="12700">
            <a:solidFill>
              <a:schemeClr val="accent6"/>
            </a:solidFill>
            <a:prstDash val="solid"/>
          </a:ln>
        </p:spPr>
      </p:sp>
      <p:sp>
        <p:nvSpPr>
          <p:cNvPr id="6" name="Text 4"/>
          <p:cNvSpPr txBox="1"/>
          <p:nvPr/>
        </p:nvSpPr>
        <p:spPr>
          <a:xfrm>
            <a:off x="3566160" y="137160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data/prepare.py</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pandas · offline</a:t>
            </a:r>
            <a:endParaRPr lang="en-US" sz="1500" dirty="0"/>
          </a:p>
        </p:txBody>
      </p:sp>
      <p:sp>
        <p:nvSpPr>
          <p:cNvPr id="7" name="box-orders.json"/>
          <p:cNvSpPr/>
          <p:nvPr/>
        </p:nvSpPr>
        <p:spPr>
          <a:xfrm>
            <a:off x="6400800" y="1371600"/>
            <a:ext cx="2377440" cy="777240"/>
          </a:xfrm>
          <a:prstGeom prst="roundRect">
            <a:avLst>
              <a:gd name="adj" fmla="val 9412"/>
            </a:avLst>
          </a:prstGeom>
          <a:solidFill>
            <a:schemeClr val="accent5"/>
          </a:solidFill>
          <a:ln w="12700">
            <a:solidFill>
              <a:schemeClr val="accent1"/>
            </a:solidFill>
            <a:prstDash val="solid"/>
          </a:ln>
        </p:spPr>
      </p:sp>
      <p:sp>
        <p:nvSpPr>
          <p:cNvPr id="8" name="Text 6"/>
          <p:cNvSpPr txBox="1"/>
          <p:nvPr/>
        </p:nvSpPr>
        <p:spPr>
          <a:xfrm>
            <a:off x="6492240" y="1371600"/>
            <a:ext cx="2194560" cy="77724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orders.json</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web/public/data</a:t>
            </a:r>
            <a:endParaRPr lang="en-US" sz="1500" dirty="0"/>
          </a:p>
        </p:txBody>
      </p:sp>
      <p:sp>
        <p:nvSpPr>
          <p:cNvPr id="9" name="Shape 7"/>
          <p:cNvSpPr/>
          <p:nvPr/>
        </p:nvSpPr>
        <p:spPr>
          <a:xfrm>
            <a:off x="2926080" y="1760220"/>
            <a:ext cx="548640" cy="914"/>
          </a:xfrm>
          <a:prstGeom prst="line">
            <a:avLst/>
          </a:prstGeom>
          <a:noFill/>
          <a:ln w="19050">
            <a:solidFill>
              <a:schemeClr val="bg2"/>
            </a:solidFill>
            <a:prstDash val="solid"/>
            <a:tailEnd type="triangle"/>
          </a:ln>
        </p:spPr>
      </p:sp>
      <p:sp>
        <p:nvSpPr>
          <p:cNvPr id="10" name="Shape 8"/>
          <p:cNvSpPr/>
          <p:nvPr/>
        </p:nvSpPr>
        <p:spPr>
          <a:xfrm>
            <a:off x="5852160" y="1760220"/>
            <a:ext cx="548640" cy="914"/>
          </a:xfrm>
          <a:prstGeom prst="line">
            <a:avLst/>
          </a:prstGeom>
          <a:noFill/>
          <a:ln w="19050">
            <a:solidFill>
              <a:schemeClr val="bg2"/>
            </a:solidFill>
            <a:prstDash val="solid"/>
            <a:tailEnd type="triangle"/>
          </a:ln>
        </p:spPr>
      </p:sp>
      <p:sp>
        <p:nvSpPr>
          <p:cNvPr id="11" name="group-browser"/>
          <p:cNvSpPr/>
          <p:nvPr/>
        </p:nvSpPr>
        <p:spPr>
          <a:xfrm>
            <a:off x="548640" y="2606040"/>
            <a:ext cx="7406640" cy="3611880"/>
          </a:xfrm>
          <a:prstGeom prst="roundRect">
            <a:avLst>
              <a:gd name="adj" fmla="val 2532"/>
            </a:avLst>
          </a:prstGeom>
          <a:solidFill>
            <a:schemeClr val="tx2"/>
          </a:solidFill>
          <a:ln w="12700">
            <a:solidFill>
              <a:schemeClr val="accent2"/>
            </a:solidFill>
            <a:prstDash val="dash"/>
          </a:ln>
        </p:spPr>
      </p:sp>
      <p:sp>
        <p:nvSpPr>
          <p:cNvPr id="12" name="Text 10"/>
          <p:cNvSpPr txBox="1"/>
          <p:nvPr/>
        </p:nvSpPr>
        <p:spPr>
          <a:xfrm>
            <a:off x="731520" y="2697480"/>
            <a:ext cx="4572000" cy="320040"/>
          </a:xfrm>
          <a:prstGeom prst="rect">
            <a:avLst/>
          </a:prstGeom>
          <a:noFill/>
          <a:ln/>
        </p:spPr>
        <p:txBody>
          <a:bodyPr wrap="square" lIns="0" tIns="0" rIns="0" bIns="0" rtlCol="0" anchor="t"/>
          <a:lstStyle/>
          <a:p>
            <a:pPr indent="0" marL="0">
              <a:buNone/>
            </a:pPr>
            <a:r>
              <a:rPr lang="en-US" sz="1200" b="1" dirty="0">
                <a:solidFill>
                  <a:schemeClr val="accent2"/>
                </a:solidFill>
                <a:latin typeface="Calibri" pitchFamily="34" charset="0"/>
                <a:ea typeface="Calibri" pitchFamily="34" charset="-122"/>
                <a:cs typeface="Calibri" pitchFamily="34" charset="-120"/>
              </a:rPr>
              <a:t>Browser · static site on Vercel · no backend</a:t>
            </a:r>
            <a:endParaRPr lang="en-US" sz="1200" dirty="0"/>
          </a:p>
        </p:txBody>
      </p:sp>
      <p:sp>
        <p:nvSpPr>
          <p:cNvPr id="13" name="box-store.ts"/>
          <p:cNvSpPr/>
          <p:nvPr/>
        </p:nvSpPr>
        <p:spPr>
          <a:xfrm>
            <a:off x="3200400" y="3108960"/>
            <a:ext cx="2103120" cy="731520"/>
          </a:xfrm>
          <a:prstGeom prst="roundRect">
            <a:avLst>
              <a:gd name="adj" fmla="val 10000"/>
            </a:avLst>
          </a:prstGeom>
          <a:solidFill>
            <a:schemeClr val="accent5"/>
          </a:solidFill>
          <a:ln w="12700">
            <a:solidFill>
              <a:schemeClr val="accent1"/>
            </a:solidFill>
            <a:prstDash val="solid"/>
          </a:ln>
        </p:spPr>
      </p:sp>
      <p:sp>
        <p:nvSpPr>
          <p:cNvPr id="14" name="Text 12"/>
          <p:cNvSpPr txBox="1"/>
          <p:nvPr/>
        </p:nvSpPr>
        <p:spPr>
          <a:xfrm>
            <a:off x="3291840" y="3108960"/>
            <a:ext cx="1920240"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store.ts</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zustand state</a:t>
            </a:r>
            <a:endParaRPr lang="en-US" sz="1500" dirty="0"/>
          </a:p>
        </p:txBody>
      </p:sp>
      <p:sp>
        <p:nvSpPr>
          <p:cNvPr id="15" name="box-Web Worker · sim/"/>
          <p:cNvSpPr/>
          <p:nvPr/>
        </p:nvSpPr>
        <p:spPr>
          <a:xfrm>
            <a:off x="777240" y="4297680"/>
            <a:ext cx="3017520" cy="1645920"/>
          </a:xfrm>
          <a:prstGeom prst="roundRect">
            <a:avLst>
              <a:gd name="adj" fmla="val 4444"/>
            </a:avLst>
          </a:prstGeom>
          <a:solidFill>
            <a:schemeClr val="accent5"/>
          </a:solidFill>
          <a:ln w="12700">
            <a:solidFill>
              <a:schemeClr val="accent6"/>
            </a:solidFill>
            <a:prstDash val="solid"/>
          </a:ln>
        </p:spPr>
      </p:sp>
      <p:sp>
        <p:nvSpPr>
          <p:cNvPr id="16" name="Text 14"/>
          <p:cNvSpPr txBox="1"/>
          <p:nvPr/>
        </p:nvSpPr>
        <p:spPr>
          <a:xfrm>
            <a:off x="868680" y="4297680"/>
            <a:ext cx="2834640" cy="1645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Web Worker · sim/</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aisle graph · Held–Karp · S-shape · simulate · layouts · annealing</a:t>
            </a:r>
            <a:endParaRPr lang="en-US" sz="1500" dirty="0"/>
          </a:p>
        </p:txBody>
      </p:sp>
      <p:sp>
        <p:nvSpPr>
          <p:cNvPr id="17" name="box-scene/"/>
          <p:cNvSpPr/>
          <p:nvPr/>
        </p:nvSpPr>
        <p:spPr>
          <a:xfrm>
            <a:off x="4114800" y="4297680"/>
            <a:ext cx="1737360" cy="1645920"/>
          </a:xfrm>
          <a:prstGeom prst="roundRect">
            <a:avLst>
              <a:gd name="adj" fmla="val 4444"/>
            </a:avLst>
          </a:prstGeom>
          <a:solidFill>
            <a:schemeClr val="accent5"/>
          </a:solidFill>
          <a:ln w="12700">
            <a:solidFill>
              <a:schemeClr val="accent6"/>
            </a:solidFill>
            <a:prstDash val="solid"/>
          </a:ln>
        </p:spPr>
      </p:sp>
      <p:sp>
        <p:nvSpPr>
          <p:cNvPr id="18" name="Text 16"/>
          <p:cNvSpPr txBox="1"/>
          <p:nvPr/>
        </p:nvSpPr>
        <p:spPr>
          <a:xfrm>
            <a:off x="4206240" y="4297680"/>
            <a:ext cx="1554480" cy="1645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scene/</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React Three Fiber: racks, cartons, picker + ghost</a:t>
            </a:r>
            <a:endParaRPr lang="en-US" sz="1500" dirty="0"/>
          </a:p>
        </p:txBody>
      </p:sp>
      <p:sp>
        <p:nvSpPr>
          <p:cNvPr id="19" name="box-ui/"/>
          <p:cNvSpPr/>
          <p:nvPr/>
        </p:nvSpPr>
        <p:spPr>
          <a:xfrm>
            <a:off x="6035040" y="4297680"/>
            <a:ext cx="1691640" cy="1645920"/>
          </a:xfrm>
          <a:prstGeom prst="roundRect">
            <a:avLst>
              <a:gd name="adj" fmla="val 4444"/>
            </a:avLst>
          </a:prstGeom>
          <a:solidFill>
            <a:schemeClr val="accent5"/>
          </a:solidFill>
          <a:ln w="12700">
            <a:solidFill>
              <a:schemeClr val="accent6"/>
            </a:solidFill>
            <a:prstDash val="solid"/>
          </a:ln>
        </p:spPr>
      </p:sp>
      <p:sp>
        <p:nvSpPr>
          <p:cNvPr id="20" name="Text 18"/>
          <p:cNvSpPr txBox="1"/>
          <p:nvPr/>
        </p:nvSpPr>
        <p:spPr>
          <a:xfrm>
            <a:off x="6126480" y="4297680"/>
            <a:ext cx="1508760" cy="1645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ui/</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KPI · slot map · race · evidence · leaderboard</a:t>
            </a:r>
            <a:endParaRPr lang="en-US" sz="1500" dirty="0"/>
          </a:p>
        </p:txBody>
      </p:sp>
      <p:sp>
        <p:nvSpPr>
          <p:cNvPr id="21" name="Shape 19"/>
          <p:cNvSpPr/>
          <p:nvPr/>
        </p:nvSpPr>
        <p:spPr>
          <a:xfrm flipH="1">
            <a:off x="4251960" y="2148840"/>
            <a:ext cx="3246120" cy="960120"/>
          </a:xfrm>
          <a:prstGeom prst="line">
            <a:avLst/>
          </a:prstGeom>
          <a:noFill/>
          <a:ln w="19050">
            <a:solidFill>
              <a:schemeClr val="accent1"/>
            </a:solidFill>
            <a:prstDash val="solid"/>
            <a:tailEnd type="triangle"/>
          </a:ln>
        </p:spPr>
      </p:sp>
      <p:sp>
        <p:nvSpPr>
          <p:cNvPr id="22" name="Shape 20"/>
          <p:cNvSpPr/>
          <p:nvPr/>
        </p:nvSpPr>
        <p:spPr>
          <a:xfrm flipH="1">
            <a:off x="2286000" y="3611880"/>
            <a:ext cx="914400" cy="685800"/>
          </a:xfrm>
          <a:prstGeom prst="line">
            <a:avLst/>
          </a:prstGeom>
          <a:noFill/>
          <a:ln w="19050">
            <a:solidFill>
              <a:schemeClr val="accent2"/>
            </a:solidFill>
            <a:prstDash val="solid"/>
            <a:headEnd type="triangle"/>
            <a:tailEnd type="triangle"/>
          </a:ln>
        </p:spPr>
      </p:sp>
      <p:sp>
        <p:nvSpPr>
          <p:cNvPr id="23" name="Shape 21"/>
          <p:cNvSpPr/>
          <p:nvPr/>
        </p:nvSpPr>
        <p:spPr>
          <a:xfrm>
            <a:off x="4754880" y="3840480"/>
            <a:ext cx="228600" cy="457200"/>
          </a:xfrm>
          <a:prstGeom prst="line">
            <a:avLst/>
          </a:prstGeom>
          <a:noFill/>
          <a:ln w="19050">
            <a:solidFill>
              <a:schemeClr val="bg2"/>
            </a:solidFill>
            <a:prstDash val="solid"/>
            <a:tailEnd type="triangle"/>
          </a:ln>
        </p:spPr>
      </p:sp>
      <p:sp>
        <p:nvSpPr>
          <p:cNvPr id="24" name="Shape 22"/>
          <p:cNvSpPr/>
          <p:nvPr/>
        </p:nvSpPr>
        <p:spPr>
          <a:xfrm>
            <a:off x="5303520" y="3703320"/>
            <a:ext cx="1554480" cy="594360"/>
          </a:xfrm>
          <a:prstGeom prst="line">
            <a:avLst/>
          </a:prstGeom>
          <a:noFill/>
          <a:ln w="19050">
            <a:solidFill>
              <a:schemeClr val="bg2"/>
            </a:solidFill>
            <a:prstDash val="solid"/>
            <a:tailEnd type="triangle"/>
          </a:ln>
        </p:spPr>
      </p:sp>
      <p:sp>
        <p:nvSpPr>
          <p:cNvPr id="25" name="group-node"/>
          <p:cNvSpPr/>
          <p:nvPr/>
        </p:nvSpPr>
        <p:spPr>
          <a:xfrm>
            <a:off x="8321040" y="2606040"/>
            <a:ext cx="3322015" cy="3611880"/>
          </a:xfrm>
          <a:prstGeom prst="roundRect">
            <a:avLst>
              <a:gd name="adj" fmla="val 2753"/>
            </a:avLst>
          </a:prstGeom>
          <a:solidFill>
            <a:schemeClr val="tx2"/>
          </a:solidFill>
          <a:ln w="12700">
            <a:solidFill>
              <a:schemeClr val="accent6"/>
            </a:solidFill>
            <a:prstDash val="dash"/>
          </a:ln>
        </p:spPr>
      </p:sp>
      <p:sp>
        <p:nvSpPr>
          <p:cNvPr id="26" name="Text 24"/>
          <p:cNvSpPr txBox="1"/>
          <p:nvPr/>
        </p:nvSpPr>
        <p:spPr>
          <a:xfrm>
            <a:off x="8503920" y="5806440"/>
            <a:ext cx="2956255" cy="320040"/>
          </a:xfrm>
          <a:prstGeom prst="rect">
            <a:avLst/>
          </a:prstGeom>
          <a:noFill/>
          <a:ln/>
        </p:spPr>
        <p:txBody>
          <a:bodyPr wrap="square" lIns="0" tIns="0" rIns="0" bIns="0" rtlCol="0" anchor="t"/>
          <a:lstStyle/>
          <a:p>
            <a:pPr indent="0" marL="0">
              <a:buNone/>
            </a:pPr>
            <a:r>
              <a:rPr lang="en-US" sz="1200" b="1" dirty="0">
                <a:solidFill>
                  <a:schemeClr val="bg2"/>
                </a:solidFill>
                <a:latin typeface="Calibri" pitchFamily="34" charset="0"/>
                <a:ea typeface="Calibri" pitchFamily="34" charset="-122"/>
                <a:cs typeface="Calibri" pitchFamily="34" charset="-120"/>
              </a:rPr>
              <a:t>Node · npm run eval</a:t>
            </a:r>
            <a:endParaRPr lang="en-US" sz="1200" dirty="0"/>
          </a:p>
        </p:txBody>
      </p:sp>
      <p:sp>
        <p:nvSpPr>
          <p:cNvPr id="27" name="box-eval/run.ts"/>
          <p:cNvSpPr/>
          <p:nvPr/>
        </p:nvSpPr>
        <p:spPr>
          <a:xfrm>
            <a:off x="8595360" y="2880360"/>
            <a:ext cx="2773375" cy="731520"/>
          </a:xfrm>
          <a:prstGeom prst="roundRect">
            <a:avLst>
              <a:gd name="adj" fmla="val 10000"/>
            </a:avLst>
          </a:prstGeom>
          <a:solidFill>
            <a:schemeClr val="accent5"/>
          </a:solidFill>
          <a:ln w="12700">
            <a:solidFill>
              <a:schemeClr val="accent6"/>
            </a:solidFill>
            <a:prstDash val="solid"/>
          </a:ln>
        </p:spPr>
      </p:sp>
      <p:sp>
        <p:nvSpPr>
          <p:cNvPr id="28" name="Text 26"/>
          <p:cNvSpPr txBox="1"/>
          <p:nvPr/>
        </p:nvSpPr>
        <p:spPr>
          <a:xfrm>
            <a:off x="8686800" y="2880360"/>
            <a:ext cx="2590495"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eval/run.ts</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the same sim/ engine</a:t>
            </a:r>
            <a:endParaRPr lang="en-US" sz="1500" dirty="0"/>
          </a:p>
        </p:txBody>
      </p:sp>
      <p:sp>
        <p:nvSpPr>
          <p:cNvPr id="29" name="box-eval/results.md"/>
          <p:cNvSpPr/>
          <p:nvPr/>
        </p:nvSpPr>
        <p:spPr>
          <a:xfrm>
            <a:off x="8595360" y="3886200"/>
            <a:ext cx="2773375" cy="731520"/>
          </a:xfrm>
          <a:prstGeom prst="roundRect">
            <a:avLst>
              <a:gd name="adj" fmla="val 10000"/>
            </a:avLst>
          </a:prstGeom>
          <a:solidFill>
            <a:schemeClr val="accent5"/>
          </a:solidFill>
          <a:ln w="12700">
            <a:solidFill>
              <a:schemeClr val="accent6"/>
            </a:solidFill>
            <a:prstDash val="solid"/>
          </a:ln>
        </p:spPr>
      </p:sp>
      <p:sp>
        <p:nvSpPr>
          <p:cNvPr id="30" name="Text 28"/>
          <p:cNvSpPr txBox="1"/>
          <p:nvPr/>
        </p:nvSpPr>
        <p:spPr>
          <a:xfrm>
            <a:off x="8686800" y="3886200"/>
            <a:ext cx="2590495"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eval/results.md</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 README and this deck</a:t>
            </a:r>
            <a:endParaRPr lang="en-US" sz="1500" dirty="0"/>
          </a:p>
        </p:txBody>
      </p:sp>
      <p:sp>
        <p:nvSpPr>
          <p:cNvPr id="31" name="box-sa_seed42.json"/>
          <p:cNvSpPr/>
          <p:nvPr/>
        </p:nvSpPr>
        <p:spPr>
          <a:xfrm>
            <a:off x="8595360" y="4892040"/>
            <a:ext cx="2773375" cy="731520"/>
          </a:xfrm>
          <a:prstGeom prst="roundRect">
            <a:avLst>
              <a:gd name="adj" fmla="val 10000"/>
            </a:avLst>
          </a:prstGeom>
          <a:solidFill>
            <a:schemeClr val="accent5"/>
          </a:solidFill>
          <a:ln w="12700">
            <a:solidFill>
              <a:schemeClr val="accent6"/>
            </a:solidFill>
            <a:prstDash val="solid"/>
          </a:ln>
        </p:spPr>
      </p:sp>
      <p:sp>
        <p:nvSpPr>
          <p:cNvPr id="32" name="Text 30"/>
          <p:cNvSpPr txBox="1"/>
          <p:nvPr/>
        </p:nvSpPr>
        <p:spPr>
          <a:xfrm>
            <a:off x="8686800" y="4892040"/>
            <a:ext cx="2590495" cy="7315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sa_seed42.json</a:t>
            </a:r>
            <a:endParaRPr lang="en-US" sz="1500" dirty="0"/>
          </a:p>
          <a:p>
            <a:pPr algn="ctr" indent="0" marL="0">
              <a:buNone/>
            </a:pPr>
            <a:r>
              <a:rPr lang="en-US" sz="1100" dirty="0">
                <a:solidFill>
                  <a:schemeClr val="bg2"/>
                </a:solidFill>
                <a:latin typeface="Calibri" pitchFamily="34" charset="0"/>
                <a:ea typeface="Calibri" pitchFamily="34" charset="-122"/>
                <a:cs typeface="Calibri" pitchFamily="34" charset="-120"/>
              </a:rPr>
              <a:t>→ shipped SA layout in the app</a:t>
            </a:r>
            <a:endParaRPr lang="en-US" sz="1500" dirty="0"/>
          </a:p>
        </p:txBody>
      </p:sp>
      <p:sp>
        <p:nvSpPr>
          <p:cNvPr id="33" name="Shape 31"/>
          <p:cNvSpPr/>
          <p:nvPr/>
        </p:nvSpPr>
        <p:spPr>
          <a:xfrm>
            <a:off x="8778240" y="1760220"/>
            <a:ext cx="1203808" cy="914"/>
          </a:xfrm>
          <a:prstGeom prst="line">
            <a:avLst/>
          </a:prstGeom>
          <a:noFill/>
          <a:ln w="19050">
            <a:solidFill>
              <a:schemeClr val="bg2"/>
            </a:solidFill>
            <a:prstDash val="solid"/>
          </a:ln>
        </p:spPr>
      </p:sp>
      <p:sp>
        <p:nvSpPr>
          <p:cNvPr id="34" name="Shape 32"/>
          <p:cNvSpPr/>
          <p:nvPr/>
        </p:nvSpPr>
        <p:spPr>
          <a:xfrm>
            <a:off x="9982048" y="1760220"/>
            <a:ext cx="914" cy="1120140"/>
          </a:xfrm>
          <a:prstGeom prst="line">
            <a:avLst/>
          </a:prstGeom>
          <a:noFill/>
          <a:ln w="19050">
            <a:solidFill>
              <a:schemeClr val="bg2"/>
            </a:solidFill>
            <a:prstDash val="solid"/>
            <a:tailEnd type="triangle"/>
          </a:ln>
        </p:spPr>
      </p:sp>
      <p:sp>
        <p:nvSpPr>
          <p:cNvPr id="35" name="Shape 33"/>
          <p:cNvSpPr/>
          <p:nvPr/>
        </p:nvSpPr>
        <p:spPr>
          <a:xfrm>
            <a:off x="9982048" y="3611880"/>
            <a:ext cx="914" cy="274320"/>
          </a:xfrm>
          <a:prstGeom prst="line">
            <a:avLst/>
          </a:prstGeom>
          <a:noFill/>
          <a:ln w="19050">
            <a:solidFill>
              <a:schemeClr val="bg2"/>
            </a:solidFill>
            <a:prstDash val="solid"/>
            <a:tailEnd type="triangle"/>
          </a:ln>
        </p:spPr>
      </p:sp>
      <p:sp>
        <p:nvSpPr>
          <p:cNvPr id="36" name="Shape 34"/>
          <p:cNvSpPr/>
          <p:nvPr/>
        </p:nvSpPr>
        <p:spPr>
          <a:xfrm>
            <a:off x="11368735" y="3246120"/>
            <a:ext cx="137160" cy="914"/>
          </a:xfrm>
          <a:prstGeom prst="line">
            <a:avLst/>
          </a:prstGeom>
          <a:noFill/>
          <a:ln w="19050">
            <a:solidFill>
              <a:schemeClr val="bg2"/>
            </a:solidFill>
            <a:prstDash val="solid"/>
          </a:ln>
        </p:spPr>
      </p:sp>
      <p:sp>
        <p:nvSpPr>
          <p:cNvPr id="37" name="Shape 35"/>
          <p:cNvSpPr/>
          <p:nvPr/>
        </p:nvSpPr>
        <p:spPr>
          <a:xfrm>
            <a:off x="11505895" y="3246120"/>
            <a:ext cx="914" cy="2011680"/>
          </a:xfrm>
          <a:prstGeom prst="line">
            <a:avLst/>
          </a:prstGeom>
          <a:noFill/>
          <a:ln w="19050">
            <a:solidFill>
              <a:schemeClr val="bg2"/>
            </a:solidFill>
            <a:prstDash val="solid"/>
          </a:ln>
        </p:spPr>
      </p:sp>
      <p:sp>
        <p:nvSpPr>
          <p:cNvPr id="38" name="Shape 36"/>
          <p:cNvSpPr/>
          <p:nvPr/>
        </p:nvSpPr>
        <p:spPr>
          <a:xfrm flipH="1">
            <a:off x="11368735" y="5257800"/>
            <a:ext cx="137160" cy="914"/>
          </a:xfrm>
          <a:prstGeom prst="line">
            <a:avLst/>
          </a:prstGeom>
          <a:noFill/>
          <a:ln w="19050">
            <a:solidFill>
              <a:schemeClr val="bg2"/>
            </a:solidFill>
            <a:prstDash val="solid"/>
            <a:tailEnd type="triangle"/>
          </a:ln>
        </p:spPr>
      </p:sp>
      <p:sp>
        <p:nvSpPr>
          <p:cNvPr id="39" name="Shape 37"/>
          <p:cNvSpPr/>
          <p:nvPr/>
        </p:nvSpPr>
        <p:spPr>
          <a:xfrm flipH="1">
            <a:off x="7955280" y="5257800"/>
            <a:ext cx="640080" cy="914"/>
          </a:xfrm>
          <a:prstGeom prst="line">
            <a:avLst/>
          </a:prstGeom>
          <a:noFill/>
          <a:ln w="19050">
            <a:solidFill>
              <a:schemeClr val="accent1"/>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Results on held-out orders (16–30 Nov)</a:t>
            </a:r>
            <a:endParaRPr lang="en-US" sz="3200" dirty="0"/>
          </a:p>
        </p:txBody>
      </p:sp>
      <p:sp>
        <p:nvSpPr>
          <p:cNvPr id="3" name="headline"/>
          <p:cNvSpPr/>
          <p:nvPr/>
        </p:nvSpPr>
        <p:spPr>
          <a:xfrm>
            <a:off x="548640" y="1463040"/>
            <a:ext cx="3291840" cy="2743200"/>
          </a:xfrm>
          <a:prstGeom prst="roundRect">
            <a:avLst>
              <a:gd name="adj" fmla="val 4000"/>
            </a:avLst>
          </a:prstGeom>
          <a:solidFill>
            <a:schemeClr val="accent5"/>
          </a:solidFill>
          <a:ln w="9525">
            <a:solidFill>
              <a:schemeClr val="accent6"/>
            </a:solidFill>
            <a:prstDash val="solid"/>
          </a:ln>
        </p:spPr>
      </p:sp>
      <p:sp>
        <p:nvSpPr>
          <p:cNvPr id="4" name="Text 2"/>
          <p:cNvSpPr txBox="1"/>
          <p:nvPr/>
        </p:nvSpPr>
        <p:spPr>
          <a:xfrm>
            <a:off x="822960" y="1691640"/>
            <a:ext cx="2743200" cy="109728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−11.1 %</a:t>
            </a:r>
            <a:endParaRPr lang="en-US" sz="5400" dirty="0"/>
          </a:p>
        </p:txBody>
      </p:sp>
      <p:sp>
        <p:nvSpPr>
          <p:cNvPr id="5" name="Text 3"/>
          <p:cNvSpPr txBox="1"/>
          <p:nvPr/>
        </p:nvSpPr>
        <p:spPr>
          <a:xfrm>
            <a:off x="822960" y="2834640"/>
            <a:ext cx="2743200" cy="45720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SA vs Baseline, Held-out km</a:t>
            </a:r>
            <a:endParaRPr lang="en-US" sz="1500" dirty="0"/>
          </a:p>
        </p:txBody>
      </p:sp>
      <p:sp>
        <p:nvSpPr>
          <p:cNvPr id="6" name="Text 4"/>
          <p:cNvSpPr txBox="1"/>
          <p:nvPr/>
        </p:nvSpPr>
        <p:spPr>
          <a:xfrm>
            <a:off x="822960" y="3291840"/>
            <a:ext cx="2743200" cy="731520"/>
          </a:xfrm>
          <a:prstGeom prst="rect">
            <a:avLst/>
          </a:prstGeom>
          <a:noFill/>
          <a:ln/>
        </p:spPr>
        <p:txBody>
          <a:bodyPr wrap="square" lIns="0" tIns="0" rIns="0" bIns="0" rtlCol="0" anchor="t"/>
          <a:lstStyle/>
          <a:p>
            <a:pPr indent="0" marL="0">
              <a:buNone/>
            </a:pPr>
            <a:r>
              <a:rPr lang="en-US" sz="1300" dirty="0">
                <a:solidFill>
                  <a:schemeClr val="bg2"/>
                </a:solidFill>
                <a:latin typeface="Calibri" pitchFamily="34" charset="0"/>
                <a:ea typeface="Calibri" pitchFamily="34" charset="-122"/>
                <a:cs typeface="Calibri" pitchFamily="34" charset="-120"/>
              </a:rPr>
              <a:t>walking distance on orders neither layout was built from</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206240" y="1463040"/>
          <a:ext cx="7436815" cy="914400"/>
        </p:xfrm>
        <a:graphic>
          <a:graphicData uri="http://schemas.openxmlformats.org/drawingml/2006/table">
            <a:tbl>
              <a:tblPr/>
              <a:tblGrid>
                <a:gridCol w="2231045"/>
                <a:gridCol w="867628"/>
                <a:gridCol w="867628"/>
                <a:gridCol w="867628"/>
                <a:gridCol w="867628"/>
                <a:gridCol w="867628"/>
                <a:gridCol w="867628"/>
              </a:tblGrid>
              <a:tr h="365760">
                <a:tc>
                  <a:txBody>
                    <a:bodyPr/>
                    <a:lstStyle/>
                    <a:p>
                      <a:pPr algn="l" indent="0" marL="0">
                        <a:buNone/>
                      </a:pPr>
                      <a:r>
                        <a:rPr lang="en-US" sz="1300" b="1" dirty="0">
                          <a:solidFill>
                            <a:srgbClr val="8A97AD"/>
                          </a:solidFill>
                          <a:latin typeface="Calibri" pitchFamily="34" charset="0"/>
                          <a:ea typeface="Calibri" pitchFamily="34" charset="-122"/>
                          <a:cs typeface="Calibri" pitchFamily="34" charset="-120"/>
                        </a:rPr>
                        <a:t>Layout</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Train km</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Held-out km</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Train s/order</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Held-out s/order</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Δ held-out vs Baseline</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c>
                  <a:txBody>
                    <a:bodyPr/>
                    <a:lstStyle/>
                    <a:p>
                      <a:pPr algn="r" indent="0" marL="0">
                        <a:buNone/>
                      </a:pPr>
                      <a:r>
                        <a:rPr lang="en-US" sz="1300" b="1" dirty="0">
                          <a:solidFill>
                            <a:srgbClr val="8A97AD"/>
                          </a:solidFill>
                          <a:latin typeface="Calibri" pitchFamily="34" charset="0"/>
                          <a:ea typeface="Calibri" pitchFamily="34" charset="-122"/>
                          <a:cs typeface="Calibri" pitchFamily="34" charset="-120"/>
                        </a:rPr>
                        <a:t>Δ train vs Baseline</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121826"/>
                    </a:solidFill>
                  </a:tcPr>
                </a:tc>
              </a:tr>
              <a:tr h="365760">
                <a:tc>
                  <a:txBody>
                    <a:bodyPr/>
                    <a:lstStyle/>
                    <a:p>
                      <a:pPr algn="l" indent="0" marL="0">
                        <a:buNone/>
                      </a:pPr>
                      <a:r>
                        <a:rPr lang="en-US" sz="1300" b="1" dirty="0">
                          <a:solidFill>
                            <a:srgbClr val="E6EDF7"/>
                          </a:solidFill>
                          <a:latin typeface="Calibri" pitchFamily="34" charset="0"/>
                          <a:ea typeface="Calibri" pitchFamily="34" charset="-122"/>
                          <a:cs typeface="Calibri" pitchFamily="34" charset="-120"/>
                        </a:rPr>
                        <a:t>Original (catalogue order)</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96.18</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105.75</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127.9</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130.0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r>
              <a:tr h="365760">
                <a:tc>
                  <a:txBody>
                    <a:bodyPr/>
                    <a:lstStyle/>
                    <a:p>
                      <a:pPr algn="l" indent="0" marL="0">
                        <a:buNone/>
                      </a:pPr>
                      <a:r>
                        <a:rPr lang="en-US" sz="1300" b="1" dirty="0">
                          <a:solidFill>
                            <a:srgbClr val="E6EDF7"/>
                          </a:solidFill>
                          <a:latin typeface="Calibri" pitchFamily="34" charset="0"/>
                          <a:ea typeface="Calibri" pitchFamily="34" charset="-122"/>
                          <a:cs typeface="Calibri" pitchFamily="34" charset="-120"/>
                        </a:rPr>
                        <a:t>Random (seed 42)</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99.90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109.11</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130.7</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132.3</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r>
              <a:tr h="365760">
                <a:tc>
                  <a:txBody>
                    <a:bodyPr/>
                    <a:lstStyle/>
                    <a:p>
                      <a:pPr algn="l" indent="0" marL="0">
                        <a:buNone/>
                      </a:pPr>
                      <a:r>
                        <a:rPr lang="en-US" sz="1300" b="1" dirty="0">
                          <a:solidFill>
                            <a:srgbClr val="39D0FF"/>
                          </a:solidFill>
                          <a:latin typeface="Calibri" pitchFamily="34" charset="0"/>
                          <a:ea typeface="Calibri" pitchFamily="34" charset="-122"/>
                          <a:cs typeface="Calibri" pitchFamily="34" charset="-120"/>
                        </a:rPr>
                        <a:t>Baseline (fast movers nearest dock)</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92.52</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101.67</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125.2</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127.2</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39D0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r>
              <a:tr h="365760">
                <a:tc>
                  <a:txBody>
                    <a:bodyPr/>
                    <a:lstStyle/>
                    <a:p>
                      <a:pPr algn="l" indent="0" marL="0">
                        <a:buNone/>
                      </a:pPr>
                      <a:r>
                        <a:rPr lang="en-US" sz="1300" b="1" dirty="0">
                          <a:solidFill>
                            <a:srgbClr val="E6EDF7"/>
                          </a:solidFill>
                          <a:latin typeface="Calibri" pitchFamily="34" charset="0"/>
                          <a:ea typeface="Calibri" pitchFamily="34" charset="-122"/>
                          <a:cs typeface="Calibri" pitchFamily="34" charset="-120"/>
                        </a:rPr>
                        <a:t>SA (seed 42, 30,000 it, from Baseline, train only)</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79.94</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90.38</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116.0</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119.6</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c>
                  <a:txBody>
                    <a:bodyPr/>
                    <a:lstStyle/>
                    <a:p>
                      <a:pPr algn="r" indent="0" marL="0">
                        <a:buNone/>
                      </a:pPr>
                      <a:r>
                        <a:rPr lang="en-US" sz="1300" dirty="0">
                          <a:solidFill>
                            <a:srgbClr val="E6EDF7"/>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73152" marR="73152" marT="36576" marB="36576">
                    <a:lnL w="6350" cap="flat" cmpd="sng" algn="ctr">
                      <a:solidFill>
                        <a:srgbClr val="1A2233"/>
                      </a:solidFill>
                      <a:prstDash val="solid"/>
                      <a:round/>
                      <a:headEnd type="none" w="med" len="med"/>
                      <a:tailEnd type="none" w="med" len="med"/>
                    </a:lnL>
                    <a:lnR w="6350" cap="flat" cmpd="sng" algn="ctr">
                      <a:solidFill>
                        <a:srgbClr val="1A2233"/>
                      </a:solidFill>
                      <a:prstDash val="solid"/>
                      <a:round/>
                      <a:headEnd type="none" w="med" len="med"/>
                      <a:tailEnd type="none" w="med" len="med"/>
                    </a:lnR>
                    <a:lnT w="6350" cap="flat" cmpd="sng" algn="ctr">
                      <a:solidFill>
                        <a:srgbClr val="1A2233"/>
                      </a:solidFill>
                      <a:prstDash val="solid"/>
                      <a:round/>
                      <a:headEnd type="none" w="med" len="med"/>
                      <a:tailEnd type="none" w="med" len="med"/>
                    </a:lnT>
                    <a:lnB w="6350" cap="flat" cmpd="sng" algn="ctr">
                      <a:solidFill>
                        <a:srgbClr val="1A2233"/>
                      </a:solidFill>
                      <a:prstDash val="solid"/>
                      <a:round/>
                      <a:headEnd type="none" w="med" len="med"/>
                      <a:tailEnd type="none" w="med" len="med"/>
                    </a:lnB>
                    <a:solidFill>
                      <a:srgbClr val="0B0F17"/>
                    </a:solidFill>
                  </a:tcPr>
                </a:tc>
              </a:tr>
            </a:tbl>
          </a:graphicData>
        </a:graphic>
      </p:graphicFrame>
      <p:sp>
        <p:nvSpPr>
          <p:cNvPr id="8" name="Text 5"/>
          <p:cNvSpPr txBox="1"/>
          <p:nvPr/>
        </p:nvSpPr>
        <p:spPr>
          <a:xfrm>
            <a:off x="548640" y="4434840"/>
            <a:ext cx="11094415"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SA vs Baseline on train (in-sample): −13.6%, so in-sample → held-out shrinkage is 2.5 percentage points</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Baseline vs Original, held-out: −3.9% (105.75 km → 101.67 km)</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SA over seeds 42, 43, 44, 45, 46: held-out Δ vs Baseline −10.0% ± 0.9 pp (mean ± sd)</a:t>
            </a:r>
            <a:endParaRPr lang="en-US" sz="1400" dirty="0"/>
          </a:p>
          <a:p>
            <a:pPr marL="342900" indent="-342900">
              <a:spcAft>
                <a:spcPts val="400"/>
              </a:spcAft>
              <a:buSzPct val="100000"/>
              <a:buChar char="•"/>
            </a:pPr>
            <a:r>
              <a:rPr lang="en-US" sz="1400" dirty="0">
                <a:solidFill>
                  <a:schemeClr val="bg1"/>
                </a:solidFill>
                <a:latin typeface="Calibri" pitchFamily="34" charset="0"/>
                <a:ea typeface="Calibri" pitchFamily="34" charset="-122"/>
                <a:cs typeface="Calibri" pitchFamily="34" charset="-120"/>
              </a:rPr>
              <a:t>S-shape routing (ablation): Δ held-out vs Baseline (S-shape): −12.8%</a:t>
            </a:r>
            <a:endParaRPr lang="en-US" sz="1400" dirty="0"/>
          </a:p>
        </p:txBody>
      </p:sp>
      <p:sp>
        <p:nvSpPr>
          <p:cNvPr id="9" name="Text 6"/>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100" i="1" dirty="0">
                <a:solidFill>
                  <a:schemeClr val="bg2"/>
                </a:solidFill>
                <a:latin typeface="Calibri" pitchFamily="34" charset="0"/>
                <a:ea typeface="Calibri" pitchFamily="34" charset="-122"/>
                <a:cs typeface="Calibri" pitchFamily="34" charset="-120"/>
              </a:rPr>
              <a:t>Copied from eval/results.md, produced by npm run eval with the same engine as the app. No number on this slide is typed by hand.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Built so the numbers can be trusted</a:t>
            </a:r>
            <a:endParaRPr lang="en-US" sz="3200" dirty="0"/>
          </a:p>
        </p:txBody>
      </p:sp>
      <p:sp>
        <p:nvSpPr>
          <p:cNvPr id="3" name="card-Held-out split"/>
          <p:cNvSpPr/>
          <p:nvPr/>
        </p:nvSpPr>
        <p:spPr>
          <a:xfrm>
            <a:off x="548640" y="1417320"/>
            <a:ext cx="5364328" cy="2194560"/>
          </a:xfrm>
          <a:prstGeom prst="roundRect">
            <a:avLst>
              <a:gd name="adj" fmla="val 5000"/>
            </a:avLst>
          </a:prstGeom>
          <a:solidFill>
            <a:schemeClr val="tx2"/>
          </a:solidFill>
          <a:ln w="9525">
            <a:solidFill>
              <a:schemeClr val="accent6"/>
            </a:solidFill>
            <a:prstDash val="solid"/>
          </a:ln>
        </p:spPr>
      </p:sp>
      <p:sp>
        <p:nvSpPr>
          <p:cNvPr id="4" name="Shape 2"/>
          <p:cNvSpPr/>
          <p:nvPr/>
        </p:nvSpPr>
        <p:spPr>
          <a:xfrm>
            <a:off x="822960" y="169164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822960"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25880" y="16916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Held-out split</a:t>
            </a:r>
            <a:endParaRPr lang="en-US" sz="1900" dirty="0"/>
          </a:p>
        </p:txBody>
      </p:sp>
      <p:sp>
        <p:nvSpPr>
          <p:cNvPr id="7" name="Text 5"/>
          <p:cNvSpPr txBox="1"/>
          <p:nvPr/>
        </p:nvSpPr>
        <p:spPr>
          <a:xfrm>
            <a:off x="822960" y="2286000"/>
            <a:ext cx="4815688" cy="10972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Layouts are built on 1–15 Nov and scored on 16–30 Nov. The split is chronological, the way a real warehouse re-slots on the past and lives with the future.</a:t>
            </a:r>
            <a:endParaRPr lang="en-US" sz="1700" dirty="0"/>
          </a:p>
        </p:txBody>
      </p:sp>
      <p:sp>
        <p:nvSpPr>
          <p:cNvPr id="8" name="card-Baseline is the target"/>
          <p:cNvSpPr/>
          <p:nvPr/>
        </p:nvSpPr>
        <p:spPr>
          <a:xfrm>
            <a:off x="6278728" y="1417320"/>
            <a:ext cx="5364328" cy="2194560"/>
          </a:xfrm>
          <a:prstGeom prst="roundRect">
            <a:avLst>
              <a:gd name="adj" fmla="val 5000"/>
            </a:avLst>
          </a:prstGeom>
          <a:solidFill>
            <a:schemeClr val="tx2"/>
          </a:solidFill>
          <a:ln w="9525">
            <a:solidFill>
              <a:schemeClr val="accent6"/>
            </a:solidFill>
            <a:prstDash val="solid"/>
          </a:ln>
        </p:spPr>
      </p:sp>
      <p:sp>
        <p:nvSpPr>
          <p:cNvPr id="9" name="Shape 7"/>
          <p:cNvSpPr/>
          <p:nvPr/>
        </p:nvSpPr>
        <p:spPr>
          <a:xfrm>
            <a:off x="6553048" y="169164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6553048" y="16916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7055968" y="16916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Baseline is the target</a:t>
            </a:r>
            <a:endParaRPr lang="en-US" sz="1900" dirty="0"/>
          </a:p>
        </p:txBody>
      </p:sp>
      <p:sp>
        <p:nvSpPr>
          <p:cNvPr id="12" name="Text 10"/>
          <p:cNvSpPr txBox="1"/>
          <p:nvPr/>
        </p:nvSpPr>
        <p:spPr>
          <a:xfrm>
            <a:off x="6553048" y="2286000"/>
            <a:ext cx="4815688" cy="10972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The headline is the gain vs fast movers nearest the dock, ranked by train picks. Original (catalogue order) and Random (seed 42) are shown, but second.</a:t>
            </a:r>
            <a:endParaRPr lang="en-US" sz="1700" dirty="0"/>
          </a:p>
        </p:txBody>
      </p:sp>
      <p:sp>
        <p:nvSpPr>
          <p:cNvPr id="13" name="card-Exact routing, limits reported"/>
          <p:cNvSpPr/>
          <p:nvPr/>
        </p:nvSpPr>
        <p:spPr>
          <a:xfrm>
            <a:off x="548640" y="3931920"/>
            <a:ext cx="5364328" cy="2194560"/>
          </a:xfrm>
          <a:prstGeom prst="roundRect">
            <a:avLst>
              <a:gd name="adj" fmla="val 5000"/>
            </a:avLst>
          </a:prstGeom>
          <a:solidFill>
            <a:schemeClr val="tx2"/>
          </a:solidFill>
          <a:ln w="9525">
            <a:solidFill>
              <a:schemeClr val="accent6"/>
            </a:solidFill>
            <a:prstDash val="solid"/>
          </a:ln>
        </p:spPr>
      </p:sp>
      <p:sp>
        <p:nvSpPr>
          <p:cNvPr id="14" name="Shape 12"/>
          <p:cNvSpPr/>
          <p:nvPr/>
        </p:nvSpPr>
        <p:spPr>
          <a:xfrm>
            <a:off x="822960" y="4206240"/>
            <a:ext cx="384048" cy="384048"/>
          </a:xfrm>
          <a:prstGeom prst="ellipse">
            <a:avLst/>
          </a:prstGeom>
          <a:solidFill>
            <a:schemeClr val="accent3"/>
          </a:solidFill>
          <a:ln w="12700">
            <a:solidFill>
              <a:schemeClr val="accent3"/>
            </a:solidFill>
            <a:prstDash val="solid"/>
          </a:ln>
        </p:spPr>
      </p:sp>
      <p:sp>
        <p:nvSpPr>
          <p:cNvPr id="15" name="Text 13"/>
          <p:cNvSpPr txBox="1"/>
          <p:nvPr/>
        </p:nvSpPr>
        <p:spPr>
          <a:xfrm>
            <a:off x="822960" y="42062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325880" y="42062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Exact routing, limits reported</a:t>
            </a:r>
            <a:endParaRPr lang="en-US" sz="1900" dirty="0"/>
          </a:p>
        </p:txBody>
      </p:sp>
      <p:sp>
        <p:nvSpPr>
          <p:cNvPr id="17" name="Text 15"/>
          <p:cNvSpPr txBox="1"/>
          <p:nvPr/>
        </p:nvSpPr>
        <p:spPr>
          <a:xfrm>
            <a:off x="822960" y="4800600"/>
            <a:ext cx="4815688" cy="10972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Held–Karp up to 11 stops, NN + 2-opt above, flagged per order. The Evidence panel prints the exact share of metres.</a:t>
            </a:r>
            <a:endParaRPr lang="en-US" sz="1700" dirty="0"/>
          </a:p>
        </p:txBody>
      </p:sp>
      <p:sp>
        <p:nvSpPr>
          <p:cNvPr id="18" name="card-Deterministic, one simulator"/>
          <p:cNvSpPr/>
          <p:nvPr/>
        </p:nvSpPr>
        <p:spPr>
          <a:xfrm>
            <a:off x="6278728" y="3931920"/>
            <a:ext cx="5364328" cy="2194560"/>
          </a:xfrm>
          <a:prstGeom prst="roundRect">
            <a:avLst>
              <a:gd name="adj" fmla="val 5000"/>
            </a:avLst>
          </a:prstGeom>
          <a:solidFill>
            <a:schemeClr val="tx2"/>
          </a:solidFill>
          <a:ln w="9525">
            <a:solidFill>
              <a:schemeClr val="accent6"/>
            </a:solidFill>
            <a:prstDash val="solid"/>
          </a:ln>
        </p:spPr>
      </p:sp>
      <p:sp>
        <p:nvSpPr>
          <p:cNvPr id="19" name="Shape 17"/>
          <p:cNvSpPr/>
          <p:nvPr/>
        </p:nvSpPr>
        <p:spPr>
          <a:xfrm>
            <a:off x="6553048" y="4206240"/>
            <a:ext cx="384048" cy="384048"/>
          </a:xfrm>
          <a:prstGeom prst="ellipse">
            <a:avLst/>
          </a:prstGeom>
          <a:solidFill>
            <a:schemeClr val="accent2"/>
          </a:solidFill>
          <a:ln w="12700">
            <a:solidFill>
              <a:schemeClr val="accent2"/>
            </a:solidFill>
            <a:prstDash val="solid"/>
          </a:ln>
        </p:spPr>
      </p:sp>
      <p:sp>
        <p:nvSpPr>
          <p:cNvPr id="20" name="Text 18"/>
          <p:cNvSpPr txBox="1"/>
          <p:nvPr/>
        </p:nvSpPr>
        <p:spPr>
          <a:xfrm>
            <a:off x="6553048" y="42062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7055968" y="4206240"/>
            <a:ext cx="4358488" cy="384048"/>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Deterministic, one simulator</a:t>
            </a:r>
            <a:endParaRPr lang="en-US" sz="1900" dirty="0"/>
          </a:p>
        </p:txBody>
      </p:sp>
      <p:sp>
        <p:nvSpPr>
          <p:cNvPr id="22" name="Text 20"/>
          <p:cNvSpPr txBox="1"/>
          <p:nvPr/>
        </p:nvSpPr>
        <p:spPr>
          <a:xfrm>
            <a:off x="6553048" y="4800600"/>
            <a:ext cx="4815688" cy="10972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No Math.random or Date.now in the engine; mulberry32 with the seed on screen. The worker, the 3D playback and npm run eval share one engine.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What we assumed, and what we did not build</a:t>
            </a:r>
            <a:endParaRPr lang="en-US" sz="3200" dirty="0"/>
          </a:p>
        </p:txBody>
      </p:sp>
      <p:sp>
        <p:nvSpPr>
          <p:cNvPr id="3" name="assumed"/>
          <p:cNvSpPr/>
          <p:nvPr/>
        </p:nvSpPr>
        <p:spPr>
          <a:xfrm>
            <a:off x="548640" y="1417320"/>
            <a:ext cx="5364328" cy="4343400"/>
          </a:xfrm>
          <a:prstGeom prst="roundRect">
            <a:avLst>
              <a:gd name="adj" fmla="val 2526"/>
            </a:avLst>
          </a:prstGeom>
          <a:solidFill>
            <a:schemeClr val="tx2"/>
          </a:solidFill>
          <a:ln w="9525">
            <a:solidFill>
              <a:schemeClr val="accent6"/>
            </a:solidFill>
            <a:prstDash val="solid"/>
          </a:ln>
        </p:spPr>
      </p:sp>
      <p:sp>
        <p:nvSpPr>
          <p:cNvPr id="4" name="Text 2"/>
          <p:cNvSpPr txBox="1"/>
          <p:nvPr/>
        </p:nvSpPr>
        <p:spPr>
          <a:xfrm>
            <a:off x="868680" y="1645920"/>
            <a:ext cx="4724248" cy="41148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Declared, not observed</a:t>
            </a:r>
            <a:endParaRPr lang="en-US" sz="2000" dirty="0"/>
          </a:p>
        </p:txBody>
      </p:sp>
      <p:sp>
        <p:nvSpPr>
          <p:cNvPr id="5" name="Text 3"/>
          <p:cNvSpPr txBox="1"/>
          <p:nvPr/>
        </p:nvSpPr>
        <p:spPr>
          <a:xfrm>
            <a:off x="868680" y="2240280"/>
            <a:ext cx="4724248" cy="33832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The warehouse geometry is ours. The orders are real; the building is not.</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The time model is synthetic: metres / 1.2 m/s + 8 s per line. No acceleration, search or queueing.</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Only the top 100 SKUs are slotted. They cover 21.2 % of the month's lines, and other lines are left out.</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One retailer, one pre-Christmas month: gains may differ in other seasons or sectors.</a:t>
            </a:r>
            <a:endParaRPr lang="en-US" sz="1700" dirty="0"/>
          </a:p>
        </p:txBody>
      </p:sp>
      <p:sp>
        <p:nvSpPr>
          <p:cNvPr id="6" name="not-built"/>
          <p:cNvSpPr/>
          <p:nvPr/>
        </p:nvSpPr>
        <p:spPr>
          <a:xfrm>
            <a:off x="6278728" y="1417320"/>
            <a:ext cx="5364328" cy="4343400"/>
          </a:xfrm>
          <a:prstGeom prst="roundRect">
            <a:avLst>
              <a:gd name="adj" fmla="val 2526"/>
            </a:avLst>
          </a:prstGeom>
          <a:solidFill>
            <a:schemeClr val="tx2"/>
          </a:solidFill>
          <a:ln w="9525">
            <a:solidFill>
              <a:schemeClr val="accent6"/>
            </a:solidFill>
            <a:prstDash val="solid"/>
          </a:ln>
        </p:spPr>
      </p:sp>
      <p:sp>
        <p:nvSpPr>
          <p:cNvPr id="7" name="Text 5"/>
          <p:cNvSpPr txBox="1"/>
          <p:nvPr/>
        </p:nvSpPr>
        <p:spPr>
          <a:xfrm>
            <a:off x="6598768" y="1645920"/>
            <a:ext cx="4724248" cy="411480"/>
          </a:xfrm>
          <a:prstGeom prst="rect">
            <a:avLst/>
          </a:prstGeom>
          <a:noFill/>
          <a:ln/>
        </p:spPr>
        <p:txBody>
          <a:bodyPr wrap="square" lIns="0" tIns="0" rIns="0" bIns="0" rtlCol="0" anchor="t"/>
          <a:lstStyle/>
          <a:p>
            <a:pPr indent="0" marL="0">
              <a:buNone/>
            </a:pPr>
            <a:r>
              <a:rPr lang="en-US" sz="2000" b="1" dirty="0">
                <a:solidFill>
                  <a:schemeClr val="accent2"/>
                </a:solidFill>
                <a:latin typeface="Arial" pitchFamily="34" charset="0"/>
                <a:ea typeface="Arial" pitchFamily="34" charset="-122"/>
                <a:cs typeface="Arial" pitchFamily="34" charset="-120"/>
              </a:rPr>
              <a:t>Not built (yet)</a:t>
            </a:r>
            <a:endParaRPr lang="en-US" sz="2000" dirty="0"/>
          </a:p>
        </p:txBody>
      </p:sp>
      <p:sp>
        <p:nvSpPr>
          <p:cNvPr id="8" name="Text 6"/>
          <p:cNvSpPr txBox="1"/>
          <p:nvPr/>
        </p:nvSpPr>
        <p:spPr>
          <a:xfrm>
            <a:off x="6598768" y="2240280"/>
            <a:ext cx="4724248" cy="33832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Batch picking: one trip serving several orders.</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Several pickers with congestion in narrow aisles.</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Rack levels, carton sizes and weights.</a:t>
            </a:r>
            <a:endParaRPr lang="en-US" sz="1700" dirty="0"/>
          </a:p>
          <a:p>
            <a:pPr marL="342900" indent="-342900">
              <a:spcAft>
                <a:spcPts val="1200"/>
              </a:spcAft>
              <a:buSzPct val="100000"/>
              <a:buChar char="•"/>
            </a:pPr>
            <a:r>
              <a:rPr lang="en-US" sz="1700" dirty="0">
                <a:solidFill>
                  <a:schemeClr val="bg1"/>
                </a:solidFill>
                <a:latin typeface="Calibri" pitchFamily="34" charset="0"/>
                <a:ea typeface="Calibri" pitchFamily="34" charset="-122"/>
                <a:cs typeface="Calibri" pitchFamily="34" charset="-120"/>
              </a:rPr>
              <a:t>Exact routing above 11 stops: those orders use a heuristic, and their share is reported.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0180015" cy="73152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Thank you. Questions?</a:t>
            </a:r>
            <a:endParaRPr lang="en-US" sz="3200" dirty="0"/>
          </a:p>
        </p:txBody>
      </p:sp>
      <p:sp>
        <p:nvSpPr>
          <p:cNvPr id="3" name="Text 1"/>
          <p:cNvSpPr txBox="1"/>
          <p:nvPr/>
        </p:nvSpPr>
        <p:spPr>
          <a:xfrm>
            <a:off x="548640" y="1508760"/>
            <a:ext cx="1280160" cy="41148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Repository</a:t>
            </a:r>
            <a:endParaRPr lang="en-US" sz="1500" dirty="0"/>
          </a:p>
        </p:txBody>
      </p:sp>
      <p:sp>
        <p:nvSpPr>
          <p:cNvPr id="4" name="Text 2"/>
          <p:cNvSpPr txBox="1"/>
          <p:nvPr/>
        </p:nvSpPr>
        <p:spPr>
          <a:xfrm>
            <a:off x="1874520" y="1508760"/>
            <a:ext cx="5440680" cy="411480"/>
          </a:xfrm>
          <a:prstGeom prst="rect">
            <a:avLst/>
          </a:prstGeom>
          <a:noFill/>
          <a:ln/>
        </p:spPr>
        <p:txBody>
          <a:bodyPr wrap="square" lIns="0" tIns="0" rIns="0" bIns="0" rtlCol="0" anchor="ctr"/>
          <a:lstStyle/>
          <a:p>
            <a:pPr indent="0" marL="0">
              <a:buNone/>
            </a:pPr>
            <a:r>
              <a:rPr lang="en-US" sz="1700" b="1" u="sng" dirty="0">
                <a:solidFill>
                  <a:schemeClr val="accent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github.com/Anandb71/ghostwalk</a:t>
            </a:r>
            <a:endParaRPr lang="en-US" sz="1700" dirty="0"/>
          </a:p>
        </p:txBody>
      </p:sp>
      <p:sp>
        <p:nvSpPr>
          <p:cNvPr id="5" name="Text 3"/>
          <p:cNvSpPr txBox="1"/>
          <p:nvPr/>
        </p:nvSpPr>
        <p:spPr>
          <a:xfrm>
            <a:off x="548640" y="2011680"/>
            <a:ext cx="1280160" cy="41148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Live app</a:t>
            </a:r>
            <a:endParaRPr lang="en-US" sz="1500" dirty="0"/>
          </a:p>
        </p:txBody>
      </p:sp>
      <p:sp>
        <p:nvSpPr>
          <p:cNvPr id="6" name="Text 4"/>
          <p:cNvSpPr txBox="1"/>
          <p:nvPr/>
        </p:nvSpPr>
        <p:spPr>
          <a:xfrm>
            <a:off x="1874520" y="2011680"/>
            <a:ext cx="5440680" cy="41148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pending deploy</a:t>
            </a:r>
            <a:endParaRPr lang="en-US" sz="1700" dirty="0"/>
          </a:p>
        </p:txBody>
      </p:sp>
      <p:sp>
        <p:nvSpPr>
          <p:cNvPr id="7" name="team-Anand B"/>
          <p:cNvSpPr/>
          <p:nvPr/>
        </p:nvSpPr>
        <p:spPr>
          <a:xfrm>
            <a:off x="548640" y="3246120"/>
            <a:ext cx="3200400" cy="1783080"/>
          </a:xfrm>
          <a:prstGeom prst="roundRect">
            <a:avLst>
              <a:gd name="adj" fmla="val 6154"/>
            </a:avLst>
          </a:prstGeom>
          <a:solidFill>
            <a:schemeClr val="tx2"/>
          </a:solidFill>
          <a:ln w="9525">
            <a:solidFill>
              <a:schemeClr val="accent6"/>
            </a:solidFill>
            <a:prstDash val="solid"/>
          </a:ln>
        </p:spPr>
      </p:sp>
      <p:sp>
        <p:nvSpPr>
          <p:cNvPr id="8" name="Text 6"/>
          <p:cNvSpPr txBox="1"/>
          <p:nvPr/>
        </p:nvSpPr>
        <p:spPr>
          <a:xfrm>
            <a:off x="822960" y="3429000"/>
            <a:ext cx="265176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Anand B</a:t>
            </a:r>
            <a:endParaRPr lang="en-US" sz="2000" dirty="0"/>
          </a:p>
        </p:txBody>
      </p:sp>
      <p:sp>
        <p:nvSpPr>
          <p:cNvPr id="9" name="Text 7"/>
          <p:cNvSpPr txBox="1"/>
          <p:nvPr/>
        </p:nvSpPr>
        <p:spPr>
          <a:xfrm>
            <a:off x="822960" y="3840480"/>
            <a:ext cx="2651760" cy="32004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@Anandb71</a:t>
            </a:r>
            <a:endParaRPr lang="en-US" sz="1400" dirty="0"/>
          </a:p>
        </p:txBody>
      </p:sp>
      <p:sp>
        <p:nvSpPr>
          <p:cNvPr id="10" name="Text 8"/>
          <p:cNvSpPr txBox="1"/>
          <p:nvPr/>
        </p:nvSpPr>
        <p:spPr>
          <a:xfrm>
            <a:off x="822960" y="4251960"/>
            <a:ext cx="2651760" cy="68580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engine, worker, 3D scene, core UI, integration and deploy</a:t>
            </a:r>
            <a:endParaRPr lang="en-US" sz="1400" dirty="0"/>
          </a:p>
        </p:txBody>
      </p:sp>
      <p:sp>
        <p:nvSpPr>
          <p:cNvPr id="11" name="team-Junaid Ahamed"/>
          <p:cNvSpPr/>
          <p:nvPr/>
        </p:nvSpPr>
        <p:spPr>
          <a:xfrm>
            <a:off x="4114800" y="3246120"/>
            <a:ext cx="3200400" cy="1783080"/>
          </a:xfrm>
          <a:prstGeom prst="roundRect">
            <a:avLst>
              <a:gd name="adj" fmla="val 6154"/>
            </a:avLst>
          </a:prstGeom>
          <a:solidFill>
            <a:schemeClr val="tx2"/>
          </a:solidFill>
          <a:ln w="9525">
            <a:solidFill>
              <a:schemeClr val="accent6"/>
            </a:solidFill>
            <a:prstDash val="solid"/>
          </a:ln>
        </p:spPr>
      </p:sp>
      <p:sp>
        <p:nvSpPr>
          <p:cNvPr id="12" name="Text 10"/>
          <p:cNvSpPr txBox="1"/>
          <p:nvPr/>
        </p:nvSpPr>
        <p:spPr>
          <a:xfrm>
            <a:off x="4389120" y="3429000"/>
            <a:ext cx="265176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Junaid Ahamed</a:t>
            </a:r>
            <a:endParaRPr lang="en-US" sz="2000" dirty="0"/>
          </a:p>
        </p:txBody>
      </p:sp>
      <p:sp>
        <p:nvSpPr>
          <p:cNvPr id="13" name="Text 11"/>
          <p:cNvSpPr txBox="1"/>
          <p:nvPr/>
        </p:nvSpPr>
        <p:spPr>
          <a:xfrm>
            <a:off x="4389120" y="3840480"/>
            <a:ext cx="2651760" cy="32004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@JunaidAhamed-7777</a:t>
            </a:r>
            <a:endParaRPr lang="en-US" sz="1400" dirty="0"/>
          </a:p>
        </p:txBody>
      </p:sp>
      <p:sp>
        <p:nvSpPr>
          <p:cNvPr id="14" name="Text 12"/>
          <p:cNvSpPr txBox="1"/>
          <p:nvPr/>
        </p:nvSpPr>
        <p:spPr>
          <a:xfrm>
            <a:off x="4389120" y="4251960"/>
            <a:ext cx="2651760" cy="68580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leaderboard, README and docs, pitch deck, demo, posts</a:t>
            </a:r>
            <a:endParaRPr lang="en-US" sz="1400" dirty="0"/>
          </a:p>
        </p:txBody>
      </p:sp>
      <p:sp>
        <p:nvSpPr>
          <p:cNvPr id="15" name="Text 13"/>
          <p:cNvSpPr txBox="1"/>
          <p:nvPr/>
        </p:nvSpPr>
        <p:spPr>
          <a:xfrm>
            <a:off x="548640" y="5577840"/>
            <a:ext cx="6766560"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Built with Claude Code (Anthropic), declared in the README and DEV_LOG. Data: UCI Online Retail II, CC BY 4.0. Code: MIT.</a:t>
            </a:r>
            <a:endParaRPr lang="en-US" sz="1200" dirty="0"/>
          </a:p>
        </p:txBody>
      </p:sp>
      <p:sp>
        <p:nvSpPr>
          <p:cNvPr id="16" name="qr-panel"/>
          <p:cNvSpPr/>
          <p:nvPr/>
        </p:nvSpPr>
        <p:spPr>
          <a:xfrm>
            <a:off x="8351215" y="1463040"/>
            <a:ext cx="3291840" cy="3886200"/>
          </a:xfrm>
          <a:prstGeom prst="roundRect">
            <a:avLst>
              <a:gd name="adj" fmla="val 3333"/>
            </a:avLst>
          </a:prstGeom>
          <a:solidFill>
            <a:schemeClr val="accent5"/>
          </a:solidFill>
          <a:ln w="9525">
            <a:solidFill>
              <a:schemeClr val="accent6"/>
            </a:solidFill>
            <a:prstDash val="solid"/>
          </a:ln>
        </p:spPr>
      </p:sp>
      <p:pic>
        <p:nvPicPr>
          <p:cNvPr id="17" name="qr-repo" descr="QR code for https://github.com/Anandb71/ghostwalk">    </p:cNvPr>
          <p:cNvPicPr>
            <a:picLocks noChangeAspect="1"/>
          </p:cNvPicPr>
          <p:nvPr/>
        </p:nvPicPr>
        <p:blipFill>
          <a:blip r:embed="rId2"/>
          <a:stretch>
            <a:fillRect/>
          </a:stretch>
        </p:blipFill>
        <p:spPr>
          <a:xfrm>
            <a:off x="8488375" y="1600200"/>
            <a:ext cx="3017520" cy="3017520"/>
          </a:xfrm>
          <a:prstGeom prst="rect">
            <a:avLst/>
          </a:prstGeom>
        </p:spPr>
      </p:pic>
      <p:sp>
        <p:nvSpPr>
          <p:cNvPr id="18" name="Text 15"/>
          <p:cNvSpPr txBox="1"/>
          <p:nvPr/>
        </p:nvSpPr>
        <p:spPr>
          <a:xfrm>
            <a:off x="8351215" y="4754880"/>
            <a:ext cx="3291840" cy="41148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Scan for the repo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Ghostwalk">
  <a:themeElements>
    <a:clrScheme name="Ghostwalk">
      <a:dk1>
        <a:srgbClr val="0B0F17"/>
      </a:dk1>
      <a:lt1>
        <a:srgbClr val="E6EDF7"/>
      </a:lt1>
      <a:dk2>
        <a:srgbClr val="121826"/>
      </a:dk2>
      <a:lt2>
        <a:srgbClr val="8A97AD"/>
      </a:lt2>
      <a:accent1>
        <a:srgbClr val="FF7A1A"/>
      </a:accent1>
      <a:accent2>
        <a:srgbClr val="39D0FF"/>
      </a:accent2>
      <a:accent3>
        <a:srgbClr val="3DDC84"/>
      </a:accent3>
      <a:accent4>
        <a:srgbClr val="FF5470"/>
      </a:accent4>
      <a:accent5>
        <a:srgbClr val="1A2233"/>
      </a:accent5>
      <a:accent6>
        <a:srgbClr val="3B4D6B"/>
      </a:accent6>
      <a:hlink>
        <a:srgbClr val="39D0FF"/>
      </a:hlink>
      <a:folHlink>
        <a:srgbClr val="8A97AD"/>
      </a:folHlink>
    </a:clrScheme>
    <a:fontScheme name="Ghostwal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Ghostwalk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Ghostwalk: race your old warehouse</dc:title>
  <dc:subject>NexAI Hack 2026 · PS 4.2 · Warehouse Digital Twin</dc:subject>
  <dc:creator>Anand B, Junaid Ahamed</dc:creator>
  <cp:lastModifiedBy>Anand B, Junaid Ahamed</cp:lastModifiedBy>
  <cp:revision>1</cp:revision>
  <dcterms:created xsi:type="dcterms:W3CDTF">2026-10-22T05:55:34Z</dcterms:created>
  <dcterms:modified xsi:type="dcterms:W3CDTF">2026-10-22T05:55:34Z</dcterms:modified>
</cp:coreProperties>
</file>